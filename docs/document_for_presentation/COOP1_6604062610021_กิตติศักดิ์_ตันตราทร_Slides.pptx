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ef16059322_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g3ef16059322_2_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g3ef16059322_2_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" name="Google Shape;39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-1645920" y="2560320"/>
            <a:ext cx="5029200" cy="5029200"/>
          </a:xfrm>
          <a:prstGeom prst="ellipse">
            <a:avLst/>
          </a:prstGeom>
          <a:solidFill>
            <a:srgbClr val="E0F4F4"/>
          </a:solidFill>
          <a:ln cap="flat" cmpd="sng" w="12700">
            <a:solidFill>
              <a:srgbClr val="E0F4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-822960" y="3108960"/>
            <a:ext cx="3200400" cy="3200400"/>
          </a:xfrm>
          <a:prstGeom prst="ellipse">
            <a:avLst/>
          </a:prstGeom>
          <a:solidFill>
            <a:srgbClr val="C8ECEC"/>
          </a:solidFill>
          <a:ln cap="flat" cmpd="sng" w="12700">
            <a:solidFill>
              <a:srgbClr val="C8EC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6035040" y="457200"/>
            <a:ext cx="73152" cy="73152"/>
          </a:xfrm>
          <a:prstGeom prst="ellipse">
            <a:avLst/>
          </a:prstGeom>
          <a:solidFill>
            <a:srgbClr val="E2EBF0"/>
          </a:solidFill>
          <a:ln cap="flat" cmpd="sng" w="12700">
            <a:solidFill>
              <a:srgbClr val="E2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6382512" y="457200"/>
            <a:ext cx="73152" cy="73152"/>
          </a:xfrm>
          <a:prstGeom prst="ellipse">
            <a:avLst/>
          </a:prstGeom>
          <a:solidFill>
            <a:srgbClr val="E2EBF0"/>
          </a:solidFill>
          <a:ln cap="flat" cmpd="sng" w="12700">
            <a:solidFill>
              <a:srgbClr val="E2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6729984" y="457200"/>
            <a:ext cx="73152" cy="73152"/>
          </a:xfrm>
          <a:prstGeom prst="ellipse">
            <a:avLst/>
          </a:prstGeom>
          <a:solidFill>
            <a:srgbClr val="E2EBF0"/>
          </a:solidFill>
          <a:ln cap="flat" cmpd="sng" w="12700">
            <a:solidFill>
              <a:srgbClr val="E2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7077456" y="457200"/>
            <a:ext cx="73152" cy="73152"/>
          </a:xfrm>
          <a:prstGeom prst="ellipse">
            <a:avLst/>
          </a:prstGeom>
          <a:solidFill>
            <a:srgbClr val="E2EBF0"/>
          </a:solidFill>
          <a:ln cap="flat" cmpd="sng" w="12700">
            <a:solidFill>
              <a:srgbClr val="E2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6035040" y="804672"/>
            <a:ext cx="73152" cy="73152"/>
          </a:xfrm>
          <a:prstGeom prst="ellipse">
            <a:avLst/>
          </a:prstGeom>
          <a:solidFill>
            <a:srgbClr val="E2EBF0"/>
          </a:solidFill>
          <a:ln cap="flat" cmpd="sng" w="12700">
            <a:solidFill>
              <a:srgbClr val="E2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6382512" y="804672"/>
            <a:ext cx="73152" cy="73152"/>
          </a:xfrm>
          <a:prstGeom prst="ellipse">
            <a:avLst/>
          </a:prstGeom>
          <a:solidFill>
            <a:srgbClr val="E2EBF0"/>
          </a:solidFill>
          <a:ln cap="flat" cmpd="sng" w="12700">
            <a:solidFill>
              <a:srgbClr val="E2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6729984" y="804672"/>
            <a:ext cx="73152" cy="73152"/>
          </a:xfrm>
          <a:prstGeom prst="ellipse">
            <a:avLst/>
          </a:prstGeom>
          <a:solidFill>
            <a:srgbClr val="E2EBF0"/>
          </a:solidFill>
          <a:ln cap="flat" cmpd="sng" w="12700">
            <a:solidFill>
              <a:srgbClr val="E2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7077456" y="804672"/>
            <a:ext cx="73152" cy="73152"/>
          </a:xfrm>
          <a:prstGeom prst="ellipse">
            <a:avLst/>
          </a:prstGeom>
          <a:solidFill>
            <a:srgbClr val="E2EBF0"/>
          </a:solidFill>
          <a:ln cap="flat" cmpd="sng" w="12700">
            <a:solidFill>
              <a:srgbClr val="E2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6035040" y="1152144"/>
            <a:ext cx="73152" cy="73152"/>
          </a:xfrm>
          <a:prstGeom prst="ellipse">
            <a:avLst/>
          </a:prstGeom>
          <a:solidFill>
            <a:srgbClr val="E2EBF0"/>
          </a:solidFill>
          <a:ln cap="flat" cmpd="sng" w="12700">
            <a:solidFill>
              <a:srgbClr val="E2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6382512" y="1152144"/>
            <a:ext cx="73152" cy="73152"/>
          </a:xfrm>
          <a:prstGeom prst="ellipse">
            <a:avLst/>
          </a:prstGeom>
          <a:solidFill>
            <a:srgbClr val="E2EBF0"/>
          </a:solidFill>
          <a:ln cap="flat" cmpd="sng" w="12700">
            <a:solidFill>
              <a:srgbClr val="E2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6729984" y="1152144"/>
            <a:ext cx="73152" cy="73152"/>
          </a:xfrm>
          <a:prstGeom prst="ellipse">
            <a:avLst/>
          </a:prstGeom>
          <a:solidFill>
            <a:srgbClr val="E2EBF0"/>
          </a:solidFill>
          <a:ln cap="flat" cmpd="sng" w="12700">
            <a:solidFill>
              <a:srgbClr val="E2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7077456" y="1152144"/>
            <a:ext cx="73152" cy="73152"/>
          </a:xfrm>
          <a:prstGeom prst="ellipse">
            <a:avLst/>
          </a:prstGeom>
          <a:solidFill>
            <a:srgbClr val="E2EBF0"/>
          </a:solidFill>
          <a:ln cap="flat" cmpd="sng" w="12700">
            <a:solidFill>
              <a:srgbClr val="E2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6035040" y="1499616"/>
            <a:ext cx="73152" cy="73152"/>
          </a:xfrm>
          <a:prstGeom prst="ellipse">
            <a:avLst/>
          </a:prstGeom>
          <a:solidFill>
            <a:srgbClr val="E2EBF0"/>
          </a:solidFill>
          <a:ln cap="flat" cmpd="sng" w="12700">
            <a:solidFill>
              <a:srgbClr val="E2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6382512" y="1499616"/>
            <a:ext cx="73152" cy="73152"/>
          </a:xfrm>
          <a:prstGeom prst="ellipse">
            <a:avLst/>
          </a:prstGeom>
          <a:solidFill>
            <a:srgbClr val="E2EBF0"/>
          </a:solidFill>
          <a:ln cap="flat" cmpd="sng" w="12700">
            <a:solidFill>
              <a:srgbClr val="E2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6729984" y="1499616"/>
            <a:ext cx="73152" cy="73152"/>
          </a:xfrm>
          <a:prstGeom prst="ellipse">
            <a:avLst/>
          </a:prstGeom>
          <a:solidFill>
            <a:srgbClr val="E2EBF0"/>
          </a:solidFill>
          <a:ln cap="flat" cmpd="sng" w="12700">
            <a:solidFill>
              <a:srgbClr val="E2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3"/>
          <p:cNvSpPr/>
          <p:nvPr/>
        </p:nvSpPr>
        <p:spPr>
          <a:xfrm>
            <a:off x="7077456" y="1499616"/>
            <a:ext cx="73152" cy="73152"/>
          </a:xfrm>
          <a:prstGeom prst="ellipse">
            <a:avLst/>
          </a:prstGeom>
          <a:solidFill>
            <a:srgbClr val="E2EBF0"/>
          </a:solidFill>
          <a:ln cap="flat" cmpd="sng" w="12700">
            <a:solidFill>
              <a:srgbClr val="E2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3"/>
          <p:cNvSpPr/>
          <p:nvPr/>
        </p:nvSpPr>
        <p:spPr>
          <a:xfrm>
            <a:off x="6035040" y="1847088"/>
            <a:ext cx="73152" cy="73152"/>
          </a:xfrm>
          <a:prstGeom prst="ellipse">
            <a:avLst/>
          </a:prstGeom>
          <a:solidFill>
            <a:srgbClr val="E2EBF0"/>
          </a:solidFill>
          <a:ln cap="flat" cmpd="sng" w="12700">
            <a:solidFill>
              <a:srgbClr val="E2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3"/>
          <p:cNvSpPr/>
          <p:nvPr/>
        </p:nvSpPr>
        <p:spPr>
          <a:xfrm>
            <a:off x="6382512" y="1847088"/>
            <a:ext cx="73152" cy="73152"/>
          </a:xfrm>
          <a:prstGeom prst="ellipse">
            <a:avLst/>
          </a:prstGeom>
          <a:solidFill>
            <a:srgbClr val="E2EBF0"/>
          </a:solidFill>
          <a:ln cap="flat" cmpd="sng" w="12700">
            <a:solidFill>
              <a:srgbClr val="E2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3"/>
          <p:cNvSpPr/>
          <p:nvPr/>
        </p:nvSpPr>
        <p:spPr>
          <a:xfrm>
            <a:off x="6729984" y="1847088"/>
            <a:ext cx="73152" cy="73152"/>
          </a:xfrm>
          <a:prstGeom prst="ellipse">
            <a:avLst/>
          </a:prstGeom>
          <a:solidFill>
            <a:srgbClr val="E2EBF0"/>
          </a:solidFill>
          <a:ln cap="flat" cmpd="sng" w="12700">
            <a:solidFill>
              <a:srgbClr val="E2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"/>
          <p:cNvSpPr/>
          <p:nvPr/>
        </p:nvSpPr>
        <p:spPr>
          <a:xfrm>
            <a:off x="7077456" y="1847088"/>
            <a:ext cx="73152" cy="73152"/>
          </a:xfrm>
          <a:prstGeom prst="ellipse">
            <a:avLst/>
          </a:prstGeom>
          <a:solidFill>
            <a:srgbClr val="E2EBF0"/>
          </a:solidFill>
          <a:ln cap="flat" cmpd="sng" w="12700">
            <a:solidFill>
              <a:srgbClr val="E2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"/>
          <p:cNvSpPr/>
          <p:nvPr/>
        </p:nvSpPr>
        <p:spPr>
          <a:xfrm>
            <a:off x="548640" y="777240"/>
            <a:ext cx="6583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98AF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7E98AF"/>
                </a:solidFill>
                <a:latin typeface="Arial"/>
                <a:ea typeface="Arial"/>
                <a:cs typeface="Arial"/>
                <a:sym typeface="Arial"/>
              </a:rPr>
              <a:t>สหกิจศึกษา 1  ·  ภาควิชาวิทยาการคอมพิวเตอร์และสารสนเทศ  ·  KMUTNB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548640" y="1143000"/>
            <a:ext cx="6858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923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F1923"/>
                </a:solidFill>
                <a:latin typeface="Arial"/>
                <a:ea typeface="Arial"/>
                <a:cs typeface="Arial"/>
                <a:sym typeface="Arial"/>
              </a:rPr>
              <a:t>Oil Palm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548640" y="1965960"/>
            <a:ext cx="68580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0D7377"/>
                </a:solidFill>
                <a:latin typeface="Arial"/>
                <a:ea typeface="Arial"/>
                <a:cs typeface="Arial"/>
                <a:sym typeface="Arial"/>
              </a:rPr>
              <a:t>Remote Sensing DSS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548640" y="2697480"/>
            <a:ext cx="64008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166"/>
              </a:buClr>
              <a:buSzPts val="1150"/>
              <a:buFont typeface="Arial"/>
              <a:buNone/>
            </a:pPr>
            <a:r>
              <a:rPr b="0" i="1" lang="en-US" sz="11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ระบบสนับสนุนการตัดสินใจด้านการตรวจจับพื้นที่ปลูกปาล์มน้ำมัน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166"/>
              </a:buClr>
              <a:buSzPts val="1150"/>
              <a:buFont typeface="Arial"/>
              <a:buNone/>
            </a:pPr>
            <a:r>
              <a:rPr b="0" i="1" lang="en-US" sz="11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จากข้อมูลดาวเทียมหลายแหล่ง (Multi-source Remote Sensing)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548640" y="3520440"/>
            <a:ext cx="4389120" cy="2286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548640" y="3675888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98AF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นักศึกษา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2148840" y="3675888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92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กิตติศักดิ์  ตันตราทร  (6604062610021)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548640" y="3936492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98AF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สถานประกอบการ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2148840" y="3936492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92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GISlab True Miracle  ·  ทีม AI Scientist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548640" y="4197096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98AF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พี่เลี้ยง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2148840" y="4197096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92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Thantham Khamyai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548640" y="4457700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98AF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อาจารย์ที่ปรึกษา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2148840" y="4457700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92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ผศ.ดร.สรร  รัตนสัญญา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548640" y="4718304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98AF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ระยะเวลา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2148840" y="4718304"/>
            <a:ext cx="5029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923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พ.ค. — 30 พ.ย.  2569  (7 เดือน)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" name="Google Shape;53;p3" title="logo_Cs-removebg-preview.png"/>
          <p:cNvPicPr preferRelativeResize="0"/>
          <p:nvPr/>
        </p:nvPicPr>
        <p:blipFill rotWithShape="1">
          <a:blip r:embed="rId3">
            <a:alphaModFix/>
          </a:blip>
          <a:srcRect b="0" l="0" r="0" t="7227"/>
          <a:stretch/>
        </p:blipFill>
        <p:spPr>
          <a:xfrm>
            <a:off x="7330350" y="457200"/>
            <a:ext cx="1813650" cy="14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"/>
          <p:cNvSpPr/>
          <p:nvPr/>
        </p:nvSpPr>
        <p:spPr>
          <a:xfrm>
            <a:off x="-1097280" y="3200400"/>
            <a:ext cx="3474600" cy="3474600"/>
          </a:xfrm>
          <a:prstGeom prst="ellipse">
            <a:avLst/>
          </a:prstGeom>
          <a:solidFill>
            <a:srgbClr val="E8F5F5"/>
          </a:solidFill>
          <a:ln cap="flat" cmpd="sng" w="12700">
            <a:solidFill>
              <a:srgbClr val="E8F5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-1300122" y="3977660"/>
            <a:ext cx="3200400" cy="3200400"/>
          </a:xfrm>
          <a:prstGeom prst="ellipse">
            <a:avLst/>
          </a:prstGeom>
          <a:solidFill>
            <a:srgbClr val="C8ECEC"/>
          </a:solidFill>
          <a:ln cap="flat" cmpd="sng" w="12700">
            <a:solidFill>
              <a:srgbClr val="C8EC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-953902" y="4411000"/>
            <a:ext cx="2333700" cy="2333700"/>
          </a:xfrm>
          <a:prstGeom prst="ellipse">
            <a:avLst/>
          </a:prstGeom>
          <a:solidFill>
            <a:srgbClr val="E8F5F5"/>
          </a:solidFill>
          <a:ln cap="flat" cmpd="sng" w="12700">
            <a:solidFill>
              <a:srgbClr val="E8F5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4"/>
          <p:cNvSpPr/>
          <p:nvPr/>
        </p:nvSpPr>
        <p:spPr>
          <a:xfrm>
            <a:off x="384048" y="201168"/>
            <a:ext cx="164592" cy="164592"/>
          </a:xfrm>
          <a:prstGeom prst="ellipse">
            <a:avLst/>
          </a:prstGeom>
          <a:solidFill>
            <a:srgbClr val="1A8FA0"/>
          </a:solidFill>
          <a:ln cap="flat" cmpd="sng" w="12700">
            <a:solidFill>
              <a:srgbClr val="1A8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621792" y="128016"/>
            <a:ext cx="6858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A2E3B"/>
                </a:solidFill>
                <a:latin typeface="Arial"/>
                <a:ea typeface="Arial"/>
                <a:cs typeface="Arial"/>
                <a:sym typeface="Arial"/>
              </a:rPr>
              <a:t>ข้อมูลนักศึกษาและสถานประกอบการ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621792" y="475488"/>
            <a:ext cx="6400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8FA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1A8FA0"/>
                </a:solidFill>
                <a:latin typeface="Arial"/>
                <a:ea typeface="Arial"/>
                <a:cs typeface="Arial"/>
                <a:sym typeface="Arial"/>
              </a:rPr>
              <a:t>Student &amp; Organization Information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5029200" y="0"/>
            <a:ext cx="4023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100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สหกิจศึกษา 1  ·  ภาควิชาวิทยาการคอมพิวเตอร์และสารสนเทศ  ·  KMUTNB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347472" y="804672"/>
            <a:ext cx="3977640" cy="2011680"/>
          </a:xfrm>
          <a:prstGeom prst="roundRect">
            <a:avLst>
              <a:gd fmla="val 3636" name="adj"/>
            </a:avLst>
          </a:prstGeom>
          <a:solidFill>
            <a:srgbClr val="D8E6EC"/>
          </a:solidFill>
          <a:ln cap="flat" cmpd="sng" w="9525">
            <a:solidFill>
              <a:srgbClr val="E2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548640" y="932688"/>
            <a:ext cx="2286000" cy="256032"/>
          </a:xfrm>
          <a:prstGeom prst="rect">
            <a:avLst/>
          </a:prstGeom>
          <a:noFill/>
          <a:ln cap="flat" cmpd="sng" w="9525">
            <a:solidFill>
              <a:srgbClr val="D8E6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8FA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ข้อมูลนักศึกษา</a:t>
            </a:r>
            <a:endParaRPr b="0" i="0" sz="1100" u="none" cap="none" strike="noStrike">
              <a:solidFill>
                <a:srgbClr val="6D28D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" name="Google Shape;68;p4"/>
          <p:cNvCxnSpPr/>
          <p:nvPr/>
        </p:nvCxnSpPr>
        <p:spPr>
          <a:xfrm>
            <a:off x="548640" y="1225296"/>
            <a:ext cx="3575304" cy="0"/>
          </a:xfrm>
          <a:prstGeom prst="straightConnector1">
            <a:avLst/>
          </a:prstGeom>
          <a:noFill/>
          <a:ln cap="flat" cmpd="sng" w="9525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" name="Google Shape;69;p4"/>
          <p:cNvSpPr/>
          <p:nvPr/>
        </p:nvSpPr>
        <p:spPr>
          <a:xfrm>
            <a:off x="548640" y="1335024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07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4A6070"/>
                </a:solidFill>
                <a:latin typeface="Arial"/>
                <a:ea typeface="Arial"/>
                <a:cs typeface="Arial"/>
                <a:sym typeface="Arial"/>
              </a:rPr>
              <a:t>ชื่อ-สกุล: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1975104" y="1335024"/>
            <a:ext cx="246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2E3B"/>
                </a:solidFill>
                <a:latin typeface="Arial"/>
                <a:ea typeface="Arial"/>
                <a:cs typeface="Arial"/>
                <a:sym typeface="Arial"/>
              </a:rPr>
              <a:t>กิตติศักดิ์ ตันตราทร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548640" y="167335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07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4A6070"/>
                </a:solidFill>
                <a:latin typeface="Arial"/>
                <a:ea typeface="Arial"/>
                <a:cs typeface="Arial"/>
                <a:sym typeface="Arial"/>
              </a:rPr>
              <a:t>รหัสนักศึกษา: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1975104" y="1673352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2E3B"/>
                </a:solidFill>
                <a:latin typeface="Arial"/>
                <a:ea typeface="Arial"/>
                <a:cs typeface="Arial"/>
                <a:sym typeface="Arial"/>
              </a:rPr>
              <a:t>6604062610021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548640" y="201168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07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4A6070"/>
                </a:solidFill>
                <a:latin typeface="Arial"/>
                <a:ea typeface="Arial"/>
                <a:cs typeface="Arial"/>
                <a:sym typeface="Arial"/>
              </a:rPr>
              <a:t>หลักสูตร/กลุ่มเรียน: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1975104" y="201168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2E3B"/>
                </a:solidFill>
                <a:latin typeface="Arial"/>
                <a:ea typeface="Arial"/>
                <a:cs typeface="Arial"/>
                <a:sym typeface="Arial"/>
              </a:rPr>
              <a:t>CS / DE-RA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548640" y="235000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07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4A6070"/>
                </a:solidFill>
                <a:latin typeface="Arial"/>
                <a:ea typeface="Arial"/>
                <a:cs typeface="Arial"/>
                <a:sym typeface="Arial"/>
              </a:rPr>
              <a:t>อาจารย์ที่ปรึกษา: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1975104" y="2350008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2E3B"/>
                </a:solidFill>
                <a:latin typeface="Arial"/>
                <a:ea typeface="Arial"/>
                <a:cs typeface="Arial"/>
                <a:sym typeface="Arial"/>
              </a:rPr>
              <a:t>ผศ.ดร.สรร รัตนสัญญา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4526280" y="804672"/>
            <a:ext cx="4279392" cy="2011680"/>
          </a:xfrm>
          <a:prstGeom prst="roundRect">
            <a:avLst>
              <a:gd fmla="val 3636" name="adj"/>
            </a:avLst>
          </a:prstGeom>
          <a:solidFill>
            <a:srgbClr val="E0F4F4"/>
          </a:solidFill>
          <a:ln cap="flat" cmpd="sng" w="9525">
            <a:solidFill>
              <a:srgbClr val="C8EC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A2E3B"/>
              </a:solidFill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4727448" y="93268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8FA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ข้อมูลสถานประกอบการ</a:t>
            </a:r>
            <a:endParaRPr b="0" i="0" sz="1100" u="none" cap="none" strike="noStrike">
              <a:solidFill>
                <a:srgbClr val="1E3A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9" name="Google Shape;79;p4"/>
          <p:cNvCxnSpPr/>
          <p:nvPr/>
        </p:nvCxnSpPr>
        <p:spPr>
          <a:xfrm>
            <a:off x="4727448" y="1225296"/>
            <a:ext cx="3877056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" name="Google Shape;80;p4"/>
          <p:cNvSpPr/>
          <p:nvPr/>
        </p:nvSpPr>
        <p:spPr>
          <a:xfrm>
            <a:off x="4727448" y="1335024"/>
            <a:ext cx="15727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07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A2E3B"/>
                </a:solidFill>
                <a:latin typeface="Arial"/>
                <a:ea typeface="Arial"/>
                <a:cs typeface="Arial"/>
                <a:sym typeface="Arial"/>
              </a:rPr>
              <a:t>บริษัท/หน่วยงาน:</a:t>
            </a:r>
            <a:endParaRPr b="0" i="0" sz="1000" u="none" cap="none" strike="noStrike">
              <a:solidFill>
                <a:srgbClr val="1A2E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6355080" y="1335024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2E3B"/>
                </a:solidFill>
                <a:latin typeface="Arial"/>
                <a:ea typeface="Arial"/>
                <a:cs typeface="Arial"/>
                <a:sym typeface="Arial"/>
              </a:rPr>
              <a:t>GISlab True Miracle</a:t>
            </a:r>
            <a:endParaRPr b="0" i="0" sz="1000" u="none" cap="none" strike="noStrike">
              <a:solidFill>
                <a:srgbClr val="1A2E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4727448" y="1673352"/>
            <a:ext cx="15727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07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A2E3B"/>
                </a:solidFill>
                <a:latin typeface="Arial"/>
                <a:ea typeface="Arial"/>
                <a:cs typeface="Arial"/>
                <a:sym typeface="Arial"/>
              </a:rPr>
              <a:t>แผนก/ทีม:</a:t>
            </a:r>
            <a:endParaRPr b="0" i="0" sz="1000" u="none" cap="none" strike="noStrike">
              <a:solidFill>
                <a:srgbClr val="1A2E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6355080" y="167335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2E3B"/>
                </a:solidFill>
                <a:latin typeface="Arial"/>
                <a:ea typeface="Arial"/>
                <a:cs typeface="Arial"/>
                <a:sym typeface="Arial"/>
              </a:rPr>
              <a:t>AI Scientist</a:t>
            </a:r>
            <a:endParaRPr b="0" i="0" sz="1000" u="none" cap="none" strike="noStrike">
              <a:solidFill>
                <a:srgbClr val="1A2E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4727448" y="2011680"/>
            <a:ext cx="15727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07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A2E3B"/>
                </a:solidFill>
                <a:latin typeface="Arial"/>
                <a:ea typeface="Arial"/>
                <a:cs typeface="Arial"/>
                <a:sym typeface="Arial"/>
              </a:rPr>
              <a:t>พี่เลี้ยง/ตำแหน่ง:</a:t>
            </a:r>
            <a:endParaRPr b="0" i="0" sz="1000" u="none" cap="none" strike="noStrike">
              <a:solidFill>
                <a:srgbClr val="1A2E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6355080" y="201168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2E3B"/>
                </a:solidFill>
                <a:latin typeface="Arial"/>
                <a:ea typeface="Arial"/>
                <a:cs typeface="Arial"/>
                <a:sym typeface="Arial"/>
              </a:rPr>
              <a:t>Thantham Khamyai</a:t>
            </a:r>
            <a:endParaRPr b="0" i="0" sz="1000" u="none" cap="none" strike="noStrike">
              <a:solidFill>
                <a:srgbClr val="1A2E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4727448" y="2350008"/>
            <a:ext cx="15727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07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A2E3B"/>
                </a:solidFill>
                <a:latin typeface="Arial"/>
                <a:ea typeface="Arial"/>
                <a:cs typeface="Arial"/>
                <a:sym typeface="Arial"/>
              </a:rPr>
              <a:t>ระยะเวลาปฏิบัติงาน:</a:t>
            </a:r>
            <a:endParaRPr b="0" i="0" sz="1000" u="none" cap="none" strike="noStrike">
              <a:solidFill>
                <a:srgbClr val="1A2E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6355080" y="235000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2E3B"/>
                </a:solidFill>
                <a:latin typeface="Arial"/>
                <a:ea typeface="Arial"/>
                <a:cs typeface="Arial"/>
                <a:sym typeface="Arial"/>
              </a:rPr>
              <a:t>5 พ.ค. — 30 พ.ย. 2569 (7 เดือน)</a:t>
            </a:r>
            <a:endParaRPr b="0" i="0" sz="1000" u="none" cap="none" strike="noStrike">
              <a:solidFill>
                <a:srgbClr val="1A2E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347472" y="2926080"/>
            <a:ext cx="8458200" cy="1389888"/>
          </a:xfrm>
          <a:prstGeom prst="roundRect">
            <a:avLst>
              <a:gd fmla="val 5263" name="adj"/>
            </a:avLst>
          </a:prstGeom>
          <a:solidFill>
            <a:srgbClr val="FEF3C7"/>
          </a:solidFill>
          <a:ln cap="flat" cmpd="sng" w="95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548640" y="3054096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8FA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บทบาทของนักศึกษา</a:t>
            </a:r>
            <a:endParaRPr b="0" i="0" sz="1100" u="none" cap="none" strike="noStrike">
              <a:solidFill>
                <a:srgbClr val="D9770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" name="Google Shape;90;p4"/>
          <p:cNvCxnSpPr/>
          <p:nvPr/>
        </p:nvCxnSpPr>
        <p:spPr>
          <a:xfrm>
            <a:off x="548640" y="3346704"/>
            <a:ext cx="8055864" cy="0"/>
          </a:xfrm>
          <a:prstGeom prst="straightConnector1">
            <a:avLst/>
          </a:prstGeom>
          <a:noFill/>
          <a:ln cap="flat" cmpd="sng" w="95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" name="Google Shape;91;p4"/>
          <p:cNvSpPr/>
          <p:nvPr/>
        </p:nvSpPr>
        <p:spPr>
          <a:xfrm>
            <a:off x="548640" y="3474720"/>
            <a:ext cx="2487168" cy="274320"/>
          </a:xfrm>
          <a:prstGeom prst="roundRect">
            <a:avLst>
              <a:gd fmla="val 13333" name="adj"/>
            </a:avLst>
          </a:prstGeom>
          <a:solidFill>
            <a:srgbClr val="FEF3C7"/>
          </a:solidFill>
          <a:ln cap="flat" cmpd="sng" w="95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621792" y="3493008"/>
            <a:ext cx="235915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E7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Fusion Library Developer</a:t>
            </a:r>
            <a:endParaRPr b="0" i="0" sz="900" u="none" cap="none" strike="noStrike">
              <a:solidFill>
                <a:srgbClr val="D9770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3364992" y="3474720"/>
            <a:ext cx="2487168" cy="274320"/>
          </a:xfrm>
          <a:prstGeom prst="roundRect">
            <a:avLst>
              <a:gd fmla="val 13333" name="adj"/>
            </a:avLst>
          </a:prstGeom>
          <a:solidFill>
            <a:srgbClr val="FEF3C7"/>
          </a:solidFill>
          <a:ln cap="flat" cmpd="sng" w="95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3438144" y="3493008"/>
            <a:ext cx="235915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E7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ViT Palm Model Engineer</a:t>
            </a:r>
            <a:endParaRPr b="0" i="0" sz="900" u="none" cap="none" strike="noStrike">
              <a:solidFill>
                <a:srgbClr val="D9770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6089904" y="3474720"/>
            <a:ext cx="2487168" cy="274320"/>
          </a:xfrm>
          <a:prstGeom prst="roundRect">
            <a:avLst>
              <a:gd fmla="val 13333" name="adj"/>
            </a:avLst>
          </a:prstGeom>
          <a:solidFill>
            <a:srgbClr val="FEF3C7"/>
          </a:solidFill>
          <a:ln cap="flat" cmpd="sng" w="95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6163056" y="3493008"/>
            <a:ext cx="235915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E7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FastAPI Backend Developer</a:t>
            </a:r>
            <a:endParaRPr b="0" i="0" sz="900" u="none" cap="none" strike="noStrike">
              <a:solidFill>
                <a:srgbClr val="D9770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548640" y="3858768"/>
            <a:ext cx="2487168" cy="274320"/>
          </a:xfrm>
          <a:prstGeom prst="roundRect">
            <a:avLst>
              <a:gd fmla="val 13333" name="adj"/>
            </a:avLst>
          </a:prstGeom>
          <a:solidFill>
            <a:srgbClr val="FEF3C7"/>
          </a:solidFill>
          <a:ln cap="flat" cmpd="sng" w="95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621792" y="3877056"/>
            <a:ext cx="235915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E7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Web Application PoC</a:t>
            </a:r>
            <a:endParaRPr b="0" i="0" sz="900" u="none" cap="none" strike="noStrike">
              <a:solidFill>
                <a:srgbClr val="D9770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3364992" y="3858768"/>
            <a:ext cx="2487168" cy="274320"/>
          </a:xfrm>
          <a:prstGeom prst="roundRect">
            <a:avLst>
              <a:gd fmla="val 13333" name="adj"/>
            </a:avLst>
          </a:prstGeom>
          <a:solidFill>
            <a:srgbClr val="FEF3C7"/>
          </a:solidFill>
          <a:ln cap="flat" cmpd="sng" w="95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3438144" y="3877056"/>
            <a:ext cx="235915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E7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Pipeline Segmentation (SAM v1)</a:t>
            </a:r>
            <a:endParaRPr b="0" i="0" sz="900" u="none" cap="none" strike="noStrike">
              <a:solidFill>
                <a:srgbClr val="D9770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6089904" y="3858768"/>
            <a:ext cx="2487168" cy="274320"/>
          </a:xfrm>
          <a:prstGeom prst="roundRect">
            <a:avLst>
              <a:gd fmla="val 13333" name="adj"/>
            </a:avLst>
          </a:prstGeom>
          <a:solidFill>
            <a:srgbClr val="FEF3C7"/>
          </a:solidFill>
          <a:ln cap="flat" cmpd="sng" w="95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6163056" y="3877056"/>
            <a:ext cx="235915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E7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 User Manual</a:t>
            </a:r>
            <a:endParaRPr b="0" i="0" sz="900" u="none" cap="none" strike="noStrike">
              <a:solidFill>
                <a:srgbClr val="D9770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347472" y="4389158"/>
            <a:ext cx="8458200" cy="402300"/>
          </a:xfrm>
          <a:prstGeom prst="roundRect">
            <a:avLst>
              <a:gd fmla="val 11364" name="adj"/>
            </a:avLst>
          </a:prstGeom>
          <a:solidFill>
            <a:srgbClr val="DCFCE7"/>
          </a:solidFill>
          <a:ln cap="flat" cmpd="sng" w="952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530352" y="4443984"/>
            <a:ext cx="80924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6E8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สิ่งที่นักศึกษารับผิดชอบโดยตรง:</a:t>
            </a:r>
            <a:r>
              <a:rPr b="1" i="0" lang="en-US" sz="900" u="none" cap="none" strike="noStrike">
                <a:solidFill>
                  <a:srgbClr val="0E6E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900" u="none" cap="none" strike="noStrike">
                <a:solidFill>
                  <a:srgbClr val="1A4A55"/>
                </a:solidFill>
                <a:latin typeface="Arial"/>
                <a:ea typeface="Arial"/>
                <a:cs typeface="Arial"/>
                <a:sym typeface="Arial"/>
              </a:rPr>
              <a:t>ออกแบบและพัฒนา Library ทั้ง 3 โมดูล · พัฒนา FastAPI Endpoint · พัฒนา Web PoC · Pipeline Segmentation โดยใช้ SAM v1 ร่วมกับ Probability Map (threshold &gt; 0.6)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8686800" y="5065776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/>
          <p:nvPr/>
        </p:nvSpPr>
        <p:spPr>
          <a:xfrm>
            <a:off x="-1097280" y="3200400"/>
            <a:ext cx="3474720" cy="3474720"/>
          </a:xfrm>
          <a:prstGeom prst="ellipse">
            <a:avLst/>
          </a:prstGeom>
          <a:solidFill>
            <a:srgbClr val="E8F5F5"/>
          </a:solidFill>
          <a:ln cap="flat" cmpd="sng" w="12700">
            <a:solidFill>
              <a:srgbClr val="E8F5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457200" y="384048"/>
            <a:ext cx="118872" cy="118872"/>
          </a:xfrm>
          <a:prstGeom prst="ellipse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"/>
          <p:cNvSpPr/>
          <p:nvPr/>
        </p:nvSpPr>
        <p:spPr>
          <a:xfrm>
            <a:off x="658368" y="274320"/>
            <a:ext cx="5943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923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F1923"/>
                </a:solidFill>
                <a:latin typeface="Arial"/>
                <a:ea typeface="Arial"/>
                <a:cs typeface="Arial"/>
                <a:sym typeface="Arial"/>
              </a:rPr>
              <a:t>ที่มาและความสำคัญของปัญหา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658368" y="713232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98AF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7E98AF"/>
                </a:solidFill>
                <a:latin typeface="Arial"/>
                <a:ea typeface="Arial"/>
                <a:cs typeface="Arial"/>
                <a:sym typeface="Arial"/>
              </a:rPr>
              <a:t>Background &amp; Problem Statement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4663440" y="1097280"/>
            <a:ext cx="4206240" cy="1115568"/>
          </a:xfrm>
          <a:prstGeom prst="roundRect">
            <a:avLst>
              <a:gd fmla="val 8197" name="adj"/>
            </a:avLst>
          </a:prstGeom>
          <a:solidFill>
            <a:srgbClr val="E0F4F4"/>
          </a:solidFill>
          <a:ln cap="flat" cmpd="sng" w="9525">
            <a:solidFill>
              <a:srgbClr val="E2EB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4846320" y="1271016"/>
            <a:ext cx="118872" cy="118872"/>
          </a:xfrm>
          <a:prstGeom prst="ellipse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"/>
          <p:cNvSpPr/>
          <p:nvPr/>
        </p:nvSpPr>
        <p:spPr>
          <a:xfrm>
            <a:off x="5074920" y="1188720"/>
            <a:ext cx="3611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D7377"/>
                </a:solidFill>
                <a:latin typeface="Arial"/>
                <a:ea typeface="Arial"/>
                <a:cs typeface="Arial"/>
                <a:sym typeface="Arial"/>
              </a:rPr>
              <a:t>ใช้เวลาสูง / ขยายขนาดไม่ได้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4846320" y="1536192"/>
            <a:ext cx="385876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1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D5166"/>
                </a:solidFill>
                <a:latin typeface="Arial"/>
                <a:ea typeface="Arial"/>
                <a:cs typeface="Arial"/>
                <a:sym typeface="Arial"/>
              </a:rPr>
              <a:t>การจัดทำขอบเขตพื้นที่ปาล์มด้วยผู้เชี่ยวชาญให้ผลแม่นยำ แต่ใช้เวลาและทรัพยากรบุคคลสูงมาก ไม่สามารถวิเคราะห์พื้นที่กว้างได้บ่อยครั้ง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4663440" y="2377440"/>
            <a:ext cx="4206240" cy="1115568"/>
          </a:xfrm>
          <a:prstGeom prst="roundRect">
            <a:avLst>
              <a:gd fmla="val 8197" name="adj"/>
            </a:avLst>
          </a:prstGeom>
          <a:solidFill>
            <a:srgbClr val="FEF3C7"/>
          </a:solidFill>
          <a:ln cap="flat" cmpd="sng" w="9525">
            <a:solidFill>
              <a:srgbClr val="E2EB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4846320" y="2551176"/>
            <a:ext cx="118872" cy="118872"/>
          </a:xfrm>
          <a:prstGeom prst="ellipse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"/>
          <p:cNvSpPr/>
          <p:nvPr/>
        </p:nvSpPr>
        <p:spPr>
          <a:xfrm>
            <a:off x="5074920" y="2468880"/>
            <a:ext cx="3611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ขาด Multi-source Fusion Tool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4846320" y="2816352"/>
            <a:ext cx="385876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1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D5166"/>
                </a:solidFill>
                <a:latin typeface="Arial"/>
                <a:ea typeface="Arial"/>
                <a:cs typeface="Arial"/>
                <a:sym typeface="Arial"/>
              </a:rPr>
              <a:t>ยังไม่มีเครื่องมือมาตรฐาน Open-source ที่รองรับข้อมูลดาวเทียมหลายแหล่งพร้อมกัน (Sentinel-1, Sentinel-2, Google Satellite)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4663440" y="3657600"/>
            <a:ext cx="4206240" cy="1115568"/>
          </a:xfrm>
          <a:prstGeom prst="roundRect">
            <a:avLst>
              <a:gd fmla="val 8197" name="adj"/>
            </a:avLst>
          </a:prstGeom>
          <a:solidFill>
            <a:srgbClr val="FEE2E2"/>
          </a:solidFill>
          <a:ln cap="flat" cmpd="sng" w="9525">
            <a:solidFill>
              <a:srgbClr val="E2EB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4846320" y="3831336"/>
            <a:ext cx="118872" cy="118872"/>
          </a:xfrm>
          <a:prstGeom prst="ellipse">
            <a:avLst/>
          </a:prstGeom>
          <a:solidFill>
            <a:srgbClr val="B91C1C"/>
          </a:solidFill>
          <a:ln cap="flat" cmpd="sng" w="1270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5074920" y="3749040"/>
            <a:ext cx="3611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B91C1C"/>
                </a:solidFill>
                <a:latin typeface="Arial"/>
                <a:ea typeface="Arial"/>
                <a:cs typeface="Arial"/>
                <a:sym typeface="Arial"/>
              </a:rPr>
              <a:t>ผลกระทบต่อการดำเนินธุรกิจ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4846320" y="4096512"/>
            <a:ext cx="385876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1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D5166"/>
                </a:solidFill>
                <a:latin typeface="Arial"/>
                <a:ea typeface="Arial"/>
                <a:cs typeface="Arial"/>
                <a:sym typeface="Arial"/>
              </a:rPr>
              <a:t>ความล่าช้า</a:t>
            </a:r>
            <a:r>
              <a:rPr lang="en-US" sz="1000">
                <a:solidFill>
                  <a:srgbClr val="3D5166"/>
                </a:solidFill>
              </a:rPr>
              <a:t>ของข้อมูล </a:t>
            </a:r>
            <a:r>
              <a:rPr b="0" i="0" lang="en-US" sz="1000" u="none" cap="none" strike="noStrike">
                <a:solidFill>
                  <a:srgbClr val="3D5166"/>
                </a:solidFill>
                <a:latin typeface="Arial"/>
                <a:ea typeface="Arial"/>
                <a:cs typeface="Arial"/>
                <a:sym typeface="Arial"/>
              </a:rPr>
              <a:t>ทำให้ การติดตามพื้นที่ และการบริหารวัตถุดิบไม่ทันต่อสถานการณ์จริง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457200" y="109728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92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F1923"/>
                </a:solidFill>
                <a:latin typeface="Arial"/>
                <a:ea typeface="Arial"/>
                <a:cs typeface="Arial"/>
                <a:sym typeface="Arial"/>
              </a:rPr>
              <a:t>สถานการณ์ปัจจุบัน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457200" y="1508760"/>
            <a:ext cx="397764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16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D5166"/>
                </a:solidFill>
                <a:latin typeface="Arial"/>
                <a:ea typeface="Arial"/>
                <a:cs typeface="Arial"/>
                <a:sym typeface="Arial"/>
              </a:rPr>
              <a:t>GISlab True Miracle </a:t>
            </a:r>
            <a:r>
              <a:rPr lang="en-US" sz="1100">
                <a:solidFill>
                  <a:srgbClr val="3D5166"/>
                </a:solidFill>
              </a:rPr>
              <a:t>และ ---- </a:t>
            </a:r>
            <a:r>
              <a:rPr b="0" i="0" lang="en-US" sz="1100" u="none" cap="none" strike="noStrike">
                <a:solidFill>
                  <a:srgbClr val="3D5166"/>
                </a:solidFill>
                <a:latin typeface="Arial"/>
                <a:ea typeface="Arial"/>
                <a:cs typeface="Arial"/>
                <a:sym typeface="Arial"/>
              </a:rPr>
              <a:t>ต้องการข้อมูลพื้นที่ปลูกปาล์มน้ำมันที่ถูกต้องและ</a:t>
            </a:r>
            <a:r>
              <a:rPr lang="en-US" sz="1100">
                <a:solidFill>
                  <a:srgbClr val="3D5166"/>
                </a:solidFill>
              </a:rPr>
              <a:t>รวดเร็ว</a:t>
            </a:r>
            <a:r>
              <a:rPr b="0" i="0" lang="en-US" sz="1100" u="none" cap="none" strike="noStrike">
                <a:solidFill>
                  <a:srgbClr val="3D5166"/>
                </a:solidFill>
                <a:latin typeface="Arial"/>
                <a:ea typeface="Arial"/>
                <a:cs typeface="Arial"/>
                <a:sym typeface="Arial"/>
              </a:rPr>
              <a:t> เพื่อให้ลูกค้าของ GISlab True Miracl</a:t>
            </a:r>
            <a:r>
              <a:rPr lang="en-US" sz="1100">
                <a:solidFill>
                  <a:srgbClr val="3D5166"/>
                </a:solidFill>
              </a:rPr>
              <a:t>e </a:t>
            </a:r>
            <a:r>
              <a:rPr b="0" i="0" lang="en-US" sz="1100" u="none" cap="none" strike="noStrike">
                <a:solidFill>
                  <a:srgbClr val="3D5166"/>
                </a:solidFill>
                <a:latin typeface="Arial"/>
                <a:ea typeface="Arial"/>
                <a:cs typeface="Arial"/>
                <a:sym typeface="Arial"/>
              </a:rPr>
              <a:t>ใช้ในการวางแผนการผลิตและบริหารวัตถุดิบ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16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D5166"/>
                </a:solidFill>
                <a:latin typeface="Arial"/>
                <a:ea typeface="Arial"/>
                <a:cs typeface="Arial"/>
                <a:sym typeface="Arial"/>
              </a:rPr>
              <a:t>ปัจจุบันกระบวนการยังอาศัยผู้เชี่ยวชาญในการ Digitize ภาพดาวเทียมด้วยมือ ซึ่งมีความแม่นยำสูง แต่ติดที่ความเร็วและความสามารถในการ Scale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457200" y="3566160"/>
            <a:ext cx="3977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100"/>
              <a:buFont typeface="Arial"/>
              <a:buNone/>
            </a:pPr>
            <a:r>
              <a:rPr b="1" i="1" lang="en-US" sz="1100" u="none" cap="none" strike="noStrike">
                <a:solidFill>
                  <a:srgbClr val="0D7377"/>
                </a:solidFill>
                <a:latin typeface="Arial"/>
                <a:ea typeface="Arial"/>
                <a:cs typeface="Arial"/>
                <a:sym typeface="Arial"/>
              </a:rPr>
              <a:t>→  เป้าหมาย: เพิ่มความเร็วและ Scalability ด้วย Open-source AI Pipeline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-1300122" y="3977660"/>
            <a:ext cx="3200400" cy="3200400"/>
          </a:xfrm>
          <a:prstGeom prst="ellipse">
            <a:avLst/>
          </a:prstGeom>
          <a:solidFill>
            <a:srgbClr val="C8ECEC"/>
          </a:solidFill>
          <a:ln cap="flat" cmpd="sng" w="12700">
            <a:solidFill>
              <a:srgbClr val="C8EC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-953902" y="4411000"/>
            <a:ext cx="2333700" cy="2333700"/>
          </a:xfrm>
          <a:prstGeom prst="ellipse">
            <a:avLst/>
          </a:prstGeom>
          <a:solidFill>
            <a:srgbClr val="E8F5F5"/>
          </a:solidFill>
          <a:ln cap="flat" cmpd="sng" w="12700">
            <a:solidFill>
              <a:srgbClr val="E8F5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"/>
          <p:cNvSpPr/>
          <p:nvPr/>
        </p:nvSpPr>
        <p:spPr>
          <a:xfrm>
            <a:off x="6858000" y="3474720"/>
            <a:ext cx="3657600" cy="3657600"/>
          </a:xfrm>
          <a:prstGeom prst="ellipse">
            <a:avLst/>
          </a:prstGeom>
          <a:solidFill>
            <a:srgbClr val="E8F5F5"/>
          </a:solidFill>
          <a:ln cap="flat" cmpd="sng" w="12700">
            <a:solidFill>
              <a:srgbClr val="E8F5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"/>
          <p:cNvSpPr/>
          <p:nvPr/>
        </p:nvSpPr>
        <p:spPr>
          <a:xfrm>
            <a:off x="457200" y="384048"/>
            <a:ext cx="118872" cy="118872"/>
          </a:xfrm>
          <a:prstGeom prst="ellipse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658368" y="274320"/>
            <a:ext cx="64008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923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F1923"/>
                </a:solidFill>
                <a:latin typeface="Arial"/>
                <a:ea typeface="Arial"/>
                <a:cs typeface="Arial"/>
                <a:sym typeface="Arial"/>
              </a:rPr>
              <a:t>วัตถุประสงค์ของโครงงาน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658368" y="71323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98AF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7E98AF"/>
                </a:solidFill>
                <a:latin typeface="Arial"/>
                <a:ea typeface="Arial"/>
                <a:cs typeface="Arial"/>
                <a:sym typeface="Arial"/>
              </a:rPr>
              <a:t>Project Objectives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457200" y="1097280"/>
            <a:ext cx="8229600" cy="1143000"/>
          </a:xfrm>
          <a:prstGeom prst="roundRect">
            <a:avLst>
              <a:gd fmla="val 8000" name="adj"/>
            </a:avLst>
          </a:prstGeom>
          <a:solidFill>
            <a:srgbClr val="E0F4F4"/>
          </a:solidFill>
          <a:ln cap="flat" cmpd="sng" w="9525">
            <a:solidFill>
              <a:srgbClr val="E2EB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658368" y="1481328"/>
            <a:ext cx="347472" cy="347472"/>
          </a:xfrm>
          <a:prstGeom prst="ellipse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658368" y="148132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1170432" y="1188720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D7377"/>
                </a:solidFill>
                <a:latin typeface="Arial"/>
                <a:ea typeface="Arial"/>
                <a:cs typeface="Arial"/>
                <a:sym typeface="Arial"/>
              </a:rPr>
              <a:t>Fusion Library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1170432" y="1517904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98AF"/>
              </a:buClr>
              <a:buSzPts val="950"/>
              <a:buFont typeface="Arial"/>
              <a:buNone/>
            </a:pPr>
            <a:r>
              <a:rPr b="0" i="1" lang="en-US" sz="950" u="none" cap="none" strike="noStrike">
                <a:solidFill>
                  <a:srgbClr val="7E98AF"/>
                </a:solidFill>
                <a:latin typeface="Arial"/>
                <a:ea typeface="Arial"/>
                <a:cs typeface="Arial"/>
                <a:sym typeface="Arial"/>
              </a:rPr>
              <a:t>Multi-source Satellite Preprocessing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4480560" y="1261872"/>
            <a:ext cx="18288" cy="804672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4617720" y="1188720"/>
            <a:ext cx="3858768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1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D5166"/>
                </a:solidFill>
                <a:latin typeface="Arial"/>
                <a:ea typeface="Arial"/>
                <a:cs typeface="Arial"/>
                <a:sym typeface="Arial"/>
              </a:rPr>
              <a:t>Open-source Library สำหรับ Preprocessing &amp; Fusion ข้อมูลจาก Sentinel-1 (VV,VH), Sentinel-2 (R,G,B,NIR,SWIR1,SWIR2) และ Google Satellite Zoom 16 (RGB)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1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D5166"/>
                </a:solidFill>
                <a:latin typeface="Arial"/>
                <a:ea typeface="Arial"/>
                <a:cs typeface="Arial"/>
                <a:sym typeface="Arial"/>
              </a:rPr>
              <a:t>รองรับ 3 โหมด: Early Fusion  ·  Late Fusion  ·  Cross-Mod</a:t>
            </a:r>
            <a:r>
              <a:rPr lang="en-US" sz="1000">
                <a:solidFill>
                  <a:srgbClr val="3D5166"/>
                </a:solidFill>
              </a:rPr>
              <a:t>e</a:t>
            </a:r>
            <a:r>
              <a:rPr b="0" i="0" lang="en-US" sz="1000" u="none" cap="none" strike="noStrike">
                <a:solidFill>
                  <a:srgbClr val="3D5166"/>
                </a:solidFill>
                <a:latin typeface="Arial"/>
                <a:ea typeface="Arial"/>
                <a:cs typeface="Arial"/>
                <a:sym typeface="Arial"/>
              </a:rPr>
              <a:t>l Attention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481350" y="2331715"/>
            <a:ext cx="8229600" cy="1143000"/>
          </a:xfrm>
          <a:prstGeom prst="roundRect">
            <a:avLst>
              <a:gd fmla="val 8000" name="adj"/>
            </a:avLst>
          </a:prstGeom>
          <a:solidFill>
            <a:srgbClr val="FEF3C7"/>
          </a:solidFill>
          <a:ln cap="flat" cmpd="sng" w="9525">
            <a:solidFill>
              <a:srgbClr val="E2EB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658368" y="2761488"/>
            <a:ext cx="347472" cy="347472"/>
          </a:xfrm>
          <a:prstGeom prst="ellipse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"/>
          <p:cNvSpPr/>
          <p:nvPr/>
        </p:nvSpPr>
        <p:spPr>
          <a:xfrm>
            <a:off x="658418" y="2761513"/>
            <a:ext cx="347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1170432" y="2468880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ViT Palm Library </a:t>
            </a:r>
            <a:endParaRPr b="0" i="0" sz="1400" u="none" cap="none" strike="noStrike">
              <a:solidFill>
                <a:srgbClr val="D9770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1170432" y="2798064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98AF"/>
              </a:buClr>
              <a:buSzPts val="950"/>
              <a:buFont typeface="Arial"/>
              <a:buNone/>
            </a:pPr>
            <a:r>
              <a:rPr b="0" i="1" lang="en-US" sz="950" u="none" cap="none" strike="noStrike">
                <a:solidFill>
                  <a:srgbClr val="7E98AF"/>
                </a:solidFill>
                <a:latin typeface="Arial"/>
                <a:ea typeface="Arial"/>
                <a:cs typeface="Arial"/>
                <a:sym typeface="Arial"/>
              </a:rPr>
              <a:t>Vision Transformer + Self-Supervised Learning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4480560" y="2542032"/>
            <a:ext cx="18288" cy="804672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4617720" y="2468880"/>
            <a:ext cx="3858768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1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D5166"/>
                </a:solidFill>
                <a:latin typeface="Arial"/>
                <a:ea typeface="Arial"/>
                <a:cs typeface="Arial"/>
                <a:sym typeface="Arial"/>
              </a:rPr>
              <a:t>Library สำหรับ Fine-tuning Vision Transformer (ViT) เฉพาะปาล์มน้ำมัน พร้อม Self-Supervised Learning บนภาพดาวเทียม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1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D5166"/>
                </a:solidFill>
                <a:latin typeface="Arial"/>
                <a:ea typeface="Arial"/>
                <a:cs typeface="Arial"/>
                <a:sym typeface="Arial"/>
              </a:rPr>
              <a:t>รองรับปรับแต่ง Parameter ได้ยืดหยุ่น (Patch size, Heads, Layers, LR, Epochs)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457200" y="3657600"/>
            <a:ext cx="8229600" cy="1143000"/>
          </a:xfrm>
          <a:prstGeom prst="roundRect">
            <a:avLst>
              <a:gd fmla="val 8000" name="adj"/>
            </a:avLst>
          </a:prstGeom>
          <a:solidFill>
            <a:srgbClr val="DCFCE7"/>
          </a:solidFill>
          <a:ln cap="flat" cmpd="sng" w="9525">
            <a:solidFill>
              <a:srgbClr val="E2EB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"/>
          <p:cNvSpPr/>
          <p:nvPr/>
        </p:nvSpPr>
        <p:spPr>
          <a:xfrm>
            <a:off x="658368" y="4041648"/>
            <a:ext cx="347472" cy="347472"/>
          </a:xfrm>
          <a:prstGeom prst="ellipse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658368" y="404164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1170432" y="3749040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FastAPI + Web PoC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1170432" y="4078224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98AF"/>
              </a:buClr>
              <a:buSzPts val="950"/>
              <a:buFont typeface="Arial"/>
              <a:buNone/>
            </a:pPr>
            <a:r>
              <a:rPr b="0" i="1" lang="en-US" sz="950" u="none" cap="none" strike="noStrike">
                <a:solidFill>
                  <a:srgbClr val="7E98AF"/>
                </a:solidFill>
                <a:latin typeface="Arial"/>
                <a:ea typeface="Arial"/>
                <a:cs typeface="Arial"/>
                <a:sym typeface="Arial"/>
              </a:rPr>
              <a:t>RESTful API &amp; End-to-End Pipeline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4480560" y="3822192"/>
            <a:ext cx="18288" cy="804672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4617720" y="3749040"/>
            <a:ext cx="3858768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1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D5166"/>
                </a:solidFill>
                <a:latin typeface="Arial"/>
                <a:ea typeface="Arial"/>
                <a:cs typeface="Arial"/>
                <a:sym typeface="Arial"/>
              </a:rPr>
              <a:t>RESTful API (FastAPI) และ Web Application ต้นแบบ สำหรับ Pipeline ตั้งแต่รับไฟล์ดาวเทียมนำเข้า ไปจนถึงส่งออก GeoJSON พื้นที่ปาล์มโดยอัตโนมัติ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"/>
          <p:cNvSpPr/>
          <p:nvPr/>
        </p:nvSpPr>
        <p:spPr>
          <a:xfrm>
            <a:off x="-1371600" y="2926080"/>
            <a:ext cx="3657600" cy="3657600"/>
          </a:xfrm>
          <a:prstGeom prst="ellipse">
            <a:avLst/>
          </a:prstGeom>
          <a:solidFill>
            <a:srgbClr val="E8F5F5"/>
          </a:solidFill>
          <a:ln cap="flat" cmpd="sng" w="12700">
            <a:solidFill>
              <a:srgbClr val="E8F5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457200" y="384048"/>
            <a:ext cx="118872" cy="118872"/>
          </a:xfrm>
          <a:prstGeom prst="ellipse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658368" y="274320"/>
            <a:ext cx="68580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923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F1923"/>
                </a:solidFill>
                <a:latin typeface="Arial"/>
                <a:ea typeface="Arial"/>
                <a:cs typeface="Arial"/>
                <a:sym typeface="Arial"/>
              </a:rPr>
              <a:t>ขอบเขตงานและบทบาทของนักศึกษา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658368" y="71323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98AF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7E98AF"/>
                </a:solidFill>
                <a:latin typeface="Arial"/>
                <a:ea typeface="Arial"/>
                <a:cs typeface="Arial"/>
                <a:sym typeface="Arial"/>
              </a:rPr>
              <a:t>Scope &amp; Student Role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457200" y="1051560"/>
            <a:ext cx="3931920" cy="3017520"/>
          </a:xfrm>
          <a:prstGeom prst="roundRect">
            <a:avLst>
              <a:gd fmla="val 3030" name="adj"/>
            </a:avLst>
          </a:prstGeom>
          <a:solidFill>
            <a:srgbClr val="FFFFFF"/>
          </a:solidFill>
          <a:ln cap="flat" cmpd="sng" w="9525">
            <a:solidFill>
              <a:srgbClr val="E2EB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640080" y="1143000"/>
            <a:ext cx="3566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D7377"/>
                </a:solidFill>
                <a:latin typeface="Arial"/>
                <a:ea typeface="Arial"/>
                <a:cs typeface="Arial"/>
                <a:sym typeface="Arial"/>
              </a:rPr>
              <a:t>ขอบเขตระบบ (3 โมดูลหลัก)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621792" y="1572768"/>
            <a:ext cx="347472" cy="347472"/>
          </a:xfrm>
          <a:prstGeom prst="ellipse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621792" y="157276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1078992" y="1572768"/>
            <a:ext cx="3108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92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F1923"/>
                </a:solidFill>
                <a:latin typeface="Arial"/>
                <a:ea typeface="Arial"/>
                <a:cs typeface="Arial"/>
                <a:sym typeface="Arial"/>
              </a:rPr>
              <a:t>Fusion Library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1078992" y="1847088"/>
            <a:ext cx="312724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166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D5166"/>
                </a:solidFill>
                <a:latin typeface="Arial"/>
                <a:ea typeface="Arial"/>
                <a:cs typeface="Arial"/>
                <a:sym typeface="Arial"/>
              </a:rPr>
              <a:t>S1(VV,VH)  ·  S2(R,G,B,NIR,SWIR)  ·  Google Sat Zoom16(RGB)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166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D5166"/>
                </a:solidFill>
                <a:latin typeface="Arial"/>
                <a:ea typeface="Arial"/>
                <a:cs typeface="Arial"/>
                <a:sym typeface="Arial"/>
              </a:rPr>
              <a:t>Early  ·  Late  ·  Cross-Modal Attention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621792" y="2395728"/>
            <a:ext cx="347472" cy="347472"/>
          </a:xfrm>
          <a:prstGeom prst="ellipse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621792" y="239572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1078992" y="2395728"/>
            <a:ext cx="3108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92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F1923"/>
                </a:solidFill>
                <a:latin typeface="Arial"/>
                <a:ea typeface="Arial"/>
                <a:cs typeface="Arial"/>
                <a:sym typeface="Arial"/>
              </a:rPr>
              <a:t>ViT Palm Library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1078992" y="2670048"/>
            <a:ext cx="312724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166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D5166"/>
                </a:solidFill>
                <a:latin typeface="Arial"/>
                <a:ea typeface="Arial"/>
                <a:cs typeface="Arial"/>
                <a:sym typeface="Arial"/>
              </a:rPr>
              <a:t>Fine-tuning (LoRA)  ·  Self-Supervised Learning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166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D5166"/>
                </a:solidFill>
                <a:latin typeface="Arial"/>
                <a:ea typeface="Arial"/>
                <a:cs typeface="Arial"/>
                <a:sym typeface="Arial"/>
              </a:rPr>
              <a:t>Probability Map output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621792" y="3218688"/>
            <a:ext cx="347472" cy="347472"/>
          </a:xfrm>
          <a:prstGeom prst="ellipse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621792" y="321868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1078992" y="3218688"/>
            <a:ext cx="3108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92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F1923"/>
                </a:solidFill>
                <a:latin typeface="Arial"/>
                <a:ea typeface="Arial"/>
                <a:cs typeface="Arial"/>
                <a:sym typeface="Arial"/>
              </a:rPr>
              <a:t>FastAPI Backend + Web PoC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1078992" y="3493008"/>
            <a:ext cx="312724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166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D5166"/>
                </a:solidFill>
                <a:latin typeface="Arial"/>
                <a:ea typeface="Arial"/>
                <a:cs typeface="Arial"/>
                <a:sym typeface="Arial"/>
              </a:rPr>
              <a:t>Pipeline Segmentation พื้นที่ปาล์ม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166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D5166"/>
                </a:solidFill>
                <a:latin typeface="Arial"/>
                <a:ea typeface="Arial"/>
                <a:cs typeface="Arial"/>
                <a:sym typeface="Arial"/>
              </a:rPr>
              <a:t>พื้นที่ไม่เกิน 10 × 10 km ต่อครั้ง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4663440" y="1051560"/>
            <a:ext cx="4206240" cy="1554480"/>
          </a:xfrm>
          <a:prstGeom prst="roundRect">
            <a:avLst>
              <a:gd fmla="val 5882" name="adj"/>
            </a:avLst>
          </a:prstGeom>
          <a:solidFill>
            <a:srgbClr val="FEE2E2"/>
          </a:solidFill>
          <a:ln cap="flat" cmpd="sng" w="9525">
            <a:solidFill>
              <a:srgbClr val="E2EB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4846320" y="114300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B91C1C"/>
                </a:solidFill>
                <a:latin typeface="Arial"/>
                <a:ea typeface="Arial"/>
                <a:cs typeface="Arial"/>
                <a:sym typeface="Arial"/>
              </a:rPr>
              <a:t>สิ่งที่ไม่อยู่ในขอบเขต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4846320" y="1508760"/>
            <a:ext cx="3886200" cy="987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B91C1C"/>
                </a:solidFill>
                <a:latin typeface="Arial"/>
                <a:ea typeface="Arial"/>
                <a:cs typeface="Arial"/>
                <a:sym typeface="Arial"/>
              </a:rPr>
              <a:t>✗  ไม่รวมการ Download ข้อมูลดาวเทียม (ผู้ใช้จัดเตรียมเอง)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B91C1C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B91C1C"/>
                </a:solidFill>
                <a:latin typeface="Arial"/>
                <a:ea typeface="Arial"/>
                <a:cs typeface="Arial"/>
                <a:sym typeface="Arial"/>
              </a:rPr>
              <a:t>✗  ไม่รองรับภาพที่มี Cloud Cover ≥ 10%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B91C1C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B91C1C"/>
                </a:solidFill>
                <a:latin typeface="Arial"/>
                <a:ea typeface="Arial"/>
                <a:cs typeface="Arial"/>
                <a:sym typeface="Arial"/>
              </a:rPr>
              <a:t>✗  ไม่รองรับพื้นที่ปาล์ม &lt; 1 ไร่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B91C1C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B91C1C"/>
                </a:solidFill>
                <a:latin typeface="Arial"/>
                <a:ea typeface="Arial"/>
                <a:cs typeface="Arial"/>
                <a:sym typeface="Arial"/>
              </a:rPr>
              <a:t>✗  ไม่รองรับพื้นที่เกิน 10 × 10 km ต่อครั้ง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4663440" y="2788920"/>
            <a:ext cx="4206240" cy="1280160"/>
          </a:xfrm>
          <a:prstGeom prst="roundRect">
            <a:avLst>
              <a:gd fmla="val 7143" name="adj"/>
            </a:avLst>
          </a:prstGeom>
          <a:solidFill>
            <a:srgbClr val="DCFCE7"/>
          </a:solidFill>
          <a:ln cap="flat" cmpd="sng" w="9525">
            <a:solidFill>
              <a:srgbClr val="E2EB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4846320" y="288036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ผลผลิตที่ต้องส่งมอบ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4846320" y="3246120"/>
            <a:ext cx="38862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Python Library (3 modules, PyPI-compatible)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6A34A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FastAPI Service  ·  Web Application PoC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6A34A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User Manual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-1733247" y="3995935"/>
            <a:ext cx="3200400" cy="3200400"/>
          </a:xfrm>
          <a:prstGeom prst="ellipse">
            <a:avLst/>
          </a:prstGeom>
          <a:solidFill>
            <a:srgbClr val="C8ECEC"/>
          </a:solidFill>
          <a:ln cap="flat" cmpd="sng" w="12700">
            <a:solidFill>
              <a:srgbClr val="C8EC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"/>
          <p:cNvSpPr/>
          <p:nvPr/>
        </p:nvSpPr>
        <p:spPr>
          <a:xfrm>
            <a:off x="457200" y="384048"/>
            <a:ext cx="118872" cy="118872"/>
          </a:xfrm>
          <a:prstGeom prst="ellipse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"/>
          <p:cNvSpPr/>
          <p:nvPr/>
        </p:nvSpPr>
        <p:spPr>
          <a:xfrm>
            <a:off x="658368" y="274320"/>
            <a:ext cx="64008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923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F1923"/>
                </a:solidFill>
                <a:latin typeface="Arial"/>
                <a:ea typeface="Arial"/>
                <a:cs typeface="Arial"/>
                <a:sym typeface="Arial"/>
              </a:rPr>
              <a:t>System Architecture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658368" y="71323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98AF"/>
              </a:buClr>
              <a:buSzPts val="1050"/>
              <a:buFont typeface="Arial"/>
              <a:buNone/>
            </a:pPr>
            <a:r>
              <a:rPr b="0" i="1" lang="en-US" sz="1050" u="none" cap="none" strike="noStrike">
                <a:solidFill>
                  <a:srgbClr val="7E98AF"/>
                </a:solidFill>
                <a:latin typeface="Arial"/>
                <a:ea typeface="Arial"/>
                <a:cs typeface="Arial"/>
                <a:sym typeface="Arial"/>
              </a:rPr>
              <a:t>5-Layer Design  ·  User → Frontend → Backend → Libraries → Storage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457200" y="1005840"/>
            <a:ext cx="8229600" cy="502920"/>
          </a:xfrm>
          <a:prstGeom prst="roundRect">
            <a:avLst>
              <a:gd fmla="val 18182" name="adj"/>
            </a:avLst>
          </a:prstGeom>
          <a:solidFill>
            <a:srgbClr val="E8EEF3"/>
          </a:solidFill>
          <a:ln cap="flat" cmpd="sng" w="9525">
            <a:solidFill>
              <a:srgbClr val="E2EB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8"/>
          <p:cNvSpPr/>
          <p:nvPr/>
        </p:nvSpPr>
        <p:spPr>
          <a:xfrm>
            <a:off x="502920" y="1024128"/>
            <a:ext cx="100584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5166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3D5166"/>
                </a:solidFill>
                <a:latin typeface="Arial"/>
                <a:ea typeface="Arial"/>
                <a:cs typeface="Arial"/>
                <a:sym typeface="Arial"/>
              </a:rPr>
              <a:t>User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1508760" y="1078992"/>
            <a:ext cx="16459" cy="356616"/>
          </a:xfrm>
          <a:prstGeom prst="rect">
            <a:avLst/>
          </a:prstGeom>
          <a:solidFill>
            <a:srgbClr val="3D5166"/>
          </a:solidFill>
          <a:ln cap="flat" cmpd="sng" w="12700">
            <a:solidFill>
              <a:srgbClr val="3D5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1572768" y="1042416"/>
            <a:ext cx="690372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1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D5166"/>
                </a:solidFill>
                <a:latin typeface="Arial"/>
                <a:ea typeface="Arial"/>
                <a:cs typeface="Arial"/>
                <a:sym typeface="Arial"/>
              </a:rPr>
              <a:t>Researcher / Analyst   (GISlab True Miracle 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4507992" y="1508760"/>
            <a:ext cx="118872" cy="109728"/>
          </a:xfrm>
          <a:prstGeom prst="rect">
            <a:avLst/>
          </a:prstGeom>
          <a:solidFill>
            <a:srgbClr val="3D5166"/>
          </a:solidFill>
          <a:ln cap="flat" cmpd="sng" w="12700">
            <a:solidFill>
              <a:srgbClr val="3D5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"/>
          <p:cNvSpPr/>
          <p:nvPr/>
        </p:nvSpPr>
        <p:spPr>
          <a:xfrm>
            <a:off x="457200" y="1627632"/>
            <a:ext cx="8229600" cy="594360"/>
          </a:xfrm>
          <a:prstGeom prst="roundRect">
            <a:avLst>
              <a:gd fmla="val 15385" name="adj"/>
            </a:avLst>
          </a:prstGeom>
          <a:solidFill>
            <a:srgbClr val="EBF4FA"/>
          </a:solidFill>
          <a:ln cap="flat" cmpd="sng" w="9525">
            <a:solidFill>
              <a:srgbClr val="E2EB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8"/>
          <p:cNvSpPr/>
          <p:nvPr/>
        </p:nvSpPr>
        <p:spPr>
          <a:xfrm>
            <a:off x="502920" y="1645920"/>
            <a:ext cx="1005840" cy="557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65A82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1508760" y="1700784"/>
            <a:ext cx="16459" cy="448056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8"/>
          <p:cNvSpPr/>
          <p:nvPr/>
        </p:nvSpPr>
        <p:spPr>
          <a:xfrm>
            <a:off x="1572768" y="1664208"/>
            <a:ext cx="690372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1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D5166"/>
                </a:solidFill>
                <a:latin typeface="Arial"/>
                <a:ea typeface="Arial"/>
                <a:cs typeface="Arial"/>
                <a:sym typeface="Arial"/>
              </a:rPr>
              <a:t>Web Application (PoC)  —  อัปโหลดไฟล์ S1/S2/Gsat  ·  เลือก Fusion Mode  ·  ตั้งค่า ViT  ·  Download GeoJSON  ·  Validation (CC&lt;10%, ≤10×10km)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4507992" y="2221992"/>
            <a:ext cx="118872" cy="109728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8"/>
          <p:cNvSpPr/>
          <p:nvPr/>
        </p:nvSpPr>
        <p:spPr>
          <a:xfrm>
            <a:off x="457200" y="2340864"/>
            <a:ext cx="8229600" cy="658368"/>
          </a:xfrm>
          <a:prstGeom prst="roundRect">
            <a:avLst>
              <a:gd fmla="val 13889" name="adj"/>
            </a:avLst>
          </a:prstGeom>
          <a:solidFill>
            <a:srgbClr val="E0F4F4"/>
          </a:solidFill>
          <a:ln cap="flat" cmpd="sng" w="9525">
            <a:solidFill>
              <a:srgbClr val="E2EB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8"/>
          <p:cNvSpPr/>
          <p:nvPr/>
        </p:nvSpPr>
        <p:spPr>
          <a:xfrm>
            <a:off x="502920" y="2359152"/>
            <a:ext cx="10058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D7377"/>
                </a:solidFill>
                <a:latin typeface="Arial"/>
                <a:ea typeface="Arial"/>
                <a:cs typeface="Arial"/>
                <a:sym typeface="Arial"/>
              </a:rPr>
              <a:t>Backend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1508760" y="2414016"/>
            <a:ext cx="16459" cy="512064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8"/>
          <p:cNvSpPr/>
          <p:nvPr/>
        </p:nvSpPr>
        <p:spPr>
          <a:xfrm>
            <a:off x="1572768" y="2377440"/>
            <a:ext cx="690372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1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D5166"/>
                </a:solidFill>
                <a:latin typeface="Arial"/>
                <a:ea typeface="Arial"/>
                <a:cs typeface="Arial"/>
                <a:sym typeface="Arial"/>
              </a:rPr>
              <a:t>FastAPI Server  —  API Key Auth  +  Input Validation  +  File Ingestion  |  Pipeline Orchestrator  +  Task Queue  |  Response Builder (GeoJSON / pkl)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4507992" y="2999232"/>
            <a:ext cx="118872" cy="109728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8"/>
          <p:cNvSpPr/>
          <p:nvPr/>
        </p:nvSpPr>
        <p:spPr>
          <a:xfrm>
            <a:off x="457200" y="3127248"/>
            <a:ext cx="2697480" cy="1097280"/>
          </a:xfrm>
          <a:prstGeom prst="roundRect">
            <a:avLst>
              <a:gd fmla="val 8333" name="adj"/>
            </a:avLst>
          </a:prstGeom>
          <a:solidFill>
            <a:srgbClr val="EDE9FE"/>
          </a:solidFill>
          <a:ln cap="flat" cmpd="sng" w="9525">
            <a:solidFill>
              <a:srgbClr val="E2EB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8"/>
          <p:cNvSpPr/>
          <p:nvPr/>
        </p:nvSpPr>
        <p:spPr>
          <a:xfrm>
            <a:off x="594360" y="3200400"/>
            <a:ext cx="2423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Fusion Library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594360" y="3493008"/>
            <a:ext cx="24231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166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D5166"/>
                </a:solidFill>
                <a:latin typeface="Arial"/>
                <a:ea typeface="Arial"/>
                <a:cs typeface="Arial"/>
                <a:sym typeface="Arial"/>
              </a:rPr>
              <a:t>S1 (VV, VH)  ·  S2 (R,G,B,NIR,SWIR)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166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D5166"/>
                </a:solidFill>
                <a:latin typeface="Arial"/>
                <a:ea typeface="Arial"/>
                <a:cs typeface="Arial"/>
                <a:sym typeface="Arial"/>
              </a:rPr>
              <a:t>Google Satellite Zoom 16 (RGB)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166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D5166"/>
                </a:solidFill>
                <a:latin typeface="Arial"/>
                <a:ea typeface="Arial"/>
                <a:cs typeface="Arial"/>
                <a:sym typeface="Arial"/>
              </a:rPr>
              <a:t>Early  ·  Late  ·  Cross-Modal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1719072" y="4224528"/>
            <a:ext cx="118872" cy="109728"/>
          </a:xfrm>
          <a:prstGeom prst="rect">
            <a:avLst/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8"/>
          <p:cNvSpPr/>
          <p:nvPr/>
        </p:nvSpPr>
        <p:spPr>
          <a:xfrm>
            <a:off x="3310128" y="3127248"/>
            <a:ext cx="2697480" cy="1097280"/>
          </a:xfrm>
          <a:prstGeom prst="roundRect">
            <a:avLst>
              <a:gd fmla="val 8333" name="adj"/>
            </a:avLst>
          </a:prstGeom>
          <a:solidFill>
            <a:srgbClr val="FEF3C7"/>
          </a:solidFill>
          <a:ln cap="flat" cmpd="sng" w="9525">
            <a:solidFill>
              <a:srgbClr val="E2EB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8"/>
          <p:cNvSpPr/>
          <p:nvPr/>
        </p:nvSpPr>
        <p:spPr>
          <a:xfrm>
            <a:off x="3447288" y="3200400"/>
            <a:ext cx="2423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ViT Palm Library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3447288" y="3493008"/>
            <a:ext cx="24231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166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D5166"/>
                </a:solidFill>
                <a:latin typeface="Arial"/>
                <a:ea typeface="Arial"/>
                <a:cs typeface="Arial"/>
                <a:sym typeface="Arial"/>
              </a:rPr>
              <a:t>Vision Transformer (ViT)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166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D5166"/>
                </a:solidFill>
                <a:latin typeface="Arial"/>
                <a:ea typeface="Arial"/>
                <a:cs typeface="Arial"/>
                <a:sym typeface="Arial"/>
              </a:rPr>
              <a:t>Fine-tuning (LoRA)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166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D5166"/>
                </a:solidFill>
                <a:latin typeface="Arial"/>
                <a:ea typeface="Arial"/>
                <a:cs typeface="Arial"/>
                <a:sym typeface="Arial"/>
              </a:rPr>
              <a:t>Self-Supervised  ·  Prob Map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4572000" y="4224528"/>
            <a:ext cx="118872" cy="109728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8"/>
          <p:cNvSpPr/>
          <p:nvPr/>
        </p:nvSpPr>
        <p:spPr>
          <a:xfrm>
            <a:off x="6163056" y="3127248"/>
            <a:ext cx="2697480" cy="1097280"/>
          </a:xfrm>
          <a:prstGeom prst="roundRect">
            <a:avLst>
              <a:gd fmla="val 8333" name="adj"/>
            </a:avLst>
          </a:prstGeom>
          <a:solidFill>
            <a:srgbClr val="FEE2E2"/>
          </a:solidFill>
          <a:ln cap="flat" cmpd="sng" w="9525">
            <a:solidFill>
              <a:srgbClr val="E2EB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8"/>
          <p:cNvSpPr/>
          <p:nvPr/>
        </p:nvSpPr>
        <p:spPr>
          <a:xfrm>
            <a:off x="6300216" y="3200400"/>
            <a:ext cx="2423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B91C1C"/>
                </a:solidFill>
                <a:latin typeface="Arial"/>
                <a:ea typeface="Arial"/>
                <a:cs typeface="Arial"/>
                <a:sym typeface="Arial"/>
              </a:rPr>
              <a:t>Segmentation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6300216" y="3493008"/>
            <a:ext cx="24231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166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D5166"/>
                </a:solidFill>
                <a:latin typeface="Arial"/>
                <a:ea typeface="Arial"/>
                <a:cs typeface="Arial"/>
                <a:sym typeface="Arial"/>
              </a:rPr>
              <a:t>SAM v1 (Segment Anything)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166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D5166"/>
                </a:solidFill>
                <a:latin typeface="Arial"/>
                <a:ea typeface="Arial"/>
                <a:cs typeface="Arial"/>
                <a:sym typeface="Arial"/>
              </a:rPr>
              <a:t>Overlay on Probability Map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166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3D5166"/>
                </a:solidFill>
                <a:latin typeface="Arial"/>
                <a:ea typeface="Arial"/>
                <a:cs typeface="Arial"/>
                <a:sym typeface="Arial"/>
              </a:rPr>
              <a:t>Threshold &gt; 0.6 = Palm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7424928" y="4224528"/>
            <a:ext cx="118872" cy="109728"/>
          </a:xfrm>
          <a:prstGeom prst="rect">
            <a:avLst/>
          </a:prstGeom>
          <a:solidFill>
            <a:srgbClr val="B91C1C"/>
          </a:solidFill>
          <a:ln cap="flat" cmpd="sng" w="1270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8"/>
          <p:cNvSpPr/>
          <p:nvPr/>
        </p:nvSpPr>
        <p:spPr>
          <a:xfrm>
            <a:off x="457200" y="4370832"/>
            <a:ext cx="8229600" cy="548640"/>
          </a:xfrm>
          <a:prstGeom prst="roundRect">
            <a:avLst>
              <a:gd fmla="val 16667" name="adj"/>
            </a:avLst>
          </a:prstGeom>
          <a:solidFill>
            <a:srgbClr val="F0F4F2"/>
          </a:solidFill>
          <a:ln cap="flat" cmpd="sng" w="9525">
            <a:solidFill>
              <a:srgbClr val="E2EB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8"/>
          <p:cNvSpPr/>
          <p:nvPr/>
        </p:nvSpPr>
        <p:spPr>
          <a:xfrm>
            <a:off x="502920" y="4389120"/>
            <a:ext cx="1005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5166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3D5166"/>
                </a:solidFill>
                <a:latin typeface="Arial"/>
                <a:ea typeface="Arial"/>
                <a:cs typeface="Arial"/>
                <a:sym typeface="Arial"/>
              </a:rPr>
              <a:t>Storage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1508760" y="4480560"/>
            <a:ext cx="16459" cy="320040"/>
          </a:xfrm>
          <a:prstGeom prst="rect">
            <a:avLst/>
          </a:prstGeom>
          <a:solidFill>
            <a:srgbClr val="3D5166"/>
          </a:solidFill>
          <a:ln cap="flat" cmpd="sng" w="12700">
            <a:solidFill>
              <a:srgbClr val="3D5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8"/>
          <p:cNvSpPr/>
          <p:nvPr/>
        </p:nvSpPr>
        <p:spPr>
          <a:xfrm>
            <a:off x="1572768" y="4425696"/>
            <a:ext cx="6903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166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D5166"/>
                </a:solidFill>
                <a:latin typeface="Arial"/>
                <a:ea typeface="Arial"/>
                <a:cs typeface="Arial"/>
                <a:sym typeface="Arial"/>
              </a:rPr>
              <a:t>File Storage  —  Satellite Inputs  ·  Probability Map  ·  GeoJSON Output  ·  Best-model.pkl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9"/>
          <p:cNvSpPr/>
          <p:nvPr/>
        </p:nvSpPr>
        <p:spPr>
          <a:xfrm>
            <a:off x="7132320" y="3200400"/>
            <a:ext cx="3200400" cy="3200400"/>
          </a:xfrm>
          <a:prstGeom prst="ellipse">
            <a:avLst/>
          </a:prstGeom>
          <a:solidFill>
            <a:srgbClr val="E8F5F5"/>
          </a:solidFill>
          <a:ln cap="flat" cmpd="sng" w="12700">
            <a:solidFill>
              <a:srgbClr val="E8F5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9"/>
          <p:cNvSpPr/>
          <p:nvPr/>
        </p:nvSpPr>
        <p:spPr>
          <a:xfrm>
            <a:off x="457200" y="384048"/>
            <a:ext cx="118872" cy="118872"/>
          </a:xfrm>
          <a:prstGeom prst="ellipse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9"/>
          <p:cNvSpPr/>
          <p:nvPr/>
        </p:nvSpPr>
        <p:spPr>
          <a:xfrm>
            <a:off x="658368" y="274320"/>
            <a:ext cx="64008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923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F1923"/>
                </a:solidFill>
                <a:latin typeface="Arial"/>
                <a:ea typeface="Arial"/>
                <a:cs typeface="Arial"/>
                <a:sym typeface="Arial"/>
              </a:rPr>
              <a:t>Pipeline การทำงาน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658368" y="71323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98AF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7E98AF"/>
                </a:solidFill>
                <a:latin typeface="Arial"/>
                <a:ea typeface="Arial"/>
                <a:cs typeface="Arial"/>
                <a:sym typeface="Arial"/>
              </a:rPr>
              <a:t>End-to-End Processing Pipeline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457200" y="1051560"/>
            <a:ext cx="1600200" cy="3246120"/>
          </a:xfrm>
          <a:prstGeom prst="roundRect">
            <a:avLst>
              <a:gd fmla="val 5714" name="adj"/>
            </a:avLst>
          </a:prstGeom>
          <a:solidFill>
            <a:srgbClr val="E0F4F4"/>
          </a:solidFill>
          <a:ln cap="flat" cmpd="sng" w="9525">
            <a:solidFill>
              <a:srgbClr val="E2EB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9"/>
          <p:cNvSpPr/>
          <p:nvPr/>
        </p:nvSpPr>
        <p:spPr>
          <a:xfrm>
            <a:off x="1060704" y="1143000"/>
            <a:ext cx="347472" cy="347472"/>
          </a:xfrm>
          <a:prstGeom prst="ellipse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9"/>
          <p:cNvSpPr/>
          <p:nvPr/>
        </p:nvSpPr>
        <p:spPr>
          <a:xfrm>
            <a:off x="1060704" y="114300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548640" y="1572768"/>
            <a:ext cx="1417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D7377"/>
                </a:solidFill>
                <a:latin typeface="Arial"/>
                <a:ea typeface="Arial"/>
                <a:cs typeface="Arial"/>
                <a:sym typeface="Arial"/>
              </a:rPr>
              <a:t>อัปโหลดไฟล์ดาวเทียม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457150" y="2057400"/>
            <a:ext cx="16002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51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D5166"/>
                </a:solidFill>
                <a:latin typeface="Arial"/>
                <a:ea typeface="Arial"/>
                <a:cs typeface="Arial"/>
                <a:sym typeface="Arial"/>
              </a:rPr>
              <a:t>Sentinel-1 (VV, VH)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51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D5166"/>
                </a:solidFill>
                <a:latin typeface="Arial"/>
                <a:ea typeface="Arial"/>
                <a:cs typeface="Arial"/>
                <a:sym typeface="Arial"/>
              </a:rPr>
              <a:t>Sentinel-2 (R,G,B,NIR,SWIR1,SWIR2) — </a:t>
            </a:r>
            <a:endParaRPr b="0" i="0" sz="900" u="none" cap="none" strike="noStrike">
              <a:solidFill>
                <a:srgbClr val="3D51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51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D5166"/>
                </a:solidFill>
                <a:latin typeface="Arial"/>
                <a:ea typeface="Arial"/>
                <a:cs typeface="Arial"/>
                <a:sym typeface="Arial"/>
              </a:rPr>
              <a:t>Cloud Cover &lt; 10%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51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D5166"/>
                </a:solidFill>
                <a:latin typeface="Arial"/>
                <a:ea typeface="Arial"/>
                <a:cs typeface="Arial"/>
                <a:sym typeface="Arial"/>
              </a:rPr>
              <a:t>Google Satellite Zoom 16 (RGB)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5" name="Google Shape;245;p9"/>
          <p:cNvCxnSpPr/>
          <p:nvPr/>
        </p:nvCxnSpPr>
        <p:spPr>
          <a:xfrm>
            <a:off x="2057400" y="2651760"/>
            <a:ext cx="137160" cy="0"/>
          </a:xfrm>
          <a:prstGeom prst="straightConnector1">
            <a:avLst/>
          </a:prstGeom>
          <a:noFill/>
          <a:ln cap="flat" cmpd="sng" w="19050">
            <a:solidFill>
              <a:srgbClr val="B0C4C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6" name="Google Shape;246;p9"/>
          <p:cNvSpPr/>
          <p:nvPr/>
        </p:nvSpPr>
        <p:spPr>
          <a:xfrm>
            <a:off x="2194560" y="1051560"/>
            <a:ext cx="1600200" cy="3246120"/>
          </a:xfrm>
          <a:prstGeom prst="roundRect">
            <a:avLst>
              <a:gd fmla="val 5714" name="adj"/>
            </a:avLst>
          </a:prstGeom>
          <a:solidFill>
            <a:srgbClr val="EDE9FE"/>
          </a:solidFill>
          <a:ln cap="flat" cmpd="sng" w="9525">
            <a:solidFill>
              <a:srgbClr val="E2EB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9"/>
          <p:cNvSpPr/>
          <p:nvPr/>
        </p:nvSpPr>
        <p:spPr>
          <a:xfrm>
            <a:off x="2798064" y="1143000"/>
            <a:ext cx="347472" cy="347472"/>
          </a:xfrm>
          <a:prstGeom prst="ellipse">
            <a:avLst/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9"/>
          <p:cNvSpPr/>
          <p:nvPr/>
        </p:nvSpPr>
        <p:spPr>
          <a:xfrm>
            <a:off x="2798064" y="114300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2286000" y="1572768"/>
            <a:ext cx="1417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เลือก Fusion Mode + ตั้งค่า ViT parameter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2286000" y="2057400"/>
            <a:ext cx="141732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51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D5166"/>
                </a:solidFill>
                <a:latin typeface="Arial"/>
                <a:ea typeface="Arial"/>
                <a:cs typeface="Arial"/>
                <a:sym typeface="Arial"/>
              </a:rPr>
              <a:t>Early Fusion / Late Fusion / Cross-Modal Attention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51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D5166"/>
                </a:solidFill>
                <a:latin typeface="Arial"/>
                <a:ea typeface="Arial"/>
                <a:cs typeface="Arial"/>
                <a:sym typeface="Arial"/>
              </a:rPr>
              <a:t>Patch size, Heads, Layers, Learning Rate, Epochs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1" name="Google Shape;251;p9"/>
          <p:cNvCxnSpPr/>
          <p:nvPr/>
        </p:nvCxnSpPr>
        <p:spPr>
          <a:xfrm>
            <a:off x="3794760" y="2651760"/>
            <a:ext cx="137160" cy="0"/>
          </a:xfrm>
          <a:prstGeom prst="straightConnector1">
            <a:avLst/>
          </a:prstGeom>
          <a:noFill/>
          <a:ln cap="flat" cmpd="sng" w="19050">
            <a:solidFill>
              <a:srgbClr val="B0C4C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2" name="Google Shape;252;p9"/>
          <p:cNvSpPr/>
          <p:nvPr/>
        </p:nvSpPr>
        <p:spPr>
          <a:xfrm>
            <a:off x="3931920" y="1051560"/>
            <a:ext cx="1600200" cy="3246120"/>
          </a:xfrm>
          <a:prstGeom prst="roundRect">
            <a:avLst>
              <a:gd fmla="val 5714" name="adj"/>
            </a:avLst>
          </a:prstGeom>
          <a:solidFill>
            <a:srgbClr val="FEF3C7"/>
          </a:solidFill>
          <a:ln cap="flat" cmpd="sng" w="9525">
            <a:solidFill>
              <a:srgbClr val="E2EB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9"/>
          <p:cNvSpPr/>
          <p:nvPr/>
        </p:nvSpPr>
        <p:spPr>
          <a:xfrm>
            <a:off x="4535424" y="1143000"/>
            <a:ext cx="347472" cy="347472"/>
          </a:xfrm>
          <a:prstGeom prst="ellipse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9"/>
          <p:cNvSpPr/>
          <p:nvPr/>
        </p:nvSpPr>
        <p:spPr>
          <a:xfrm>
            <a:off x="4535424" y="114300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4023360" y="1572768"/>
            <a:ext cx="1417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ViT Inference → Probability Map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4023360" y="2057400"/>
            <a:ext cx="141732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51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D5166"/>
                </a:solidFill>
                <a:latin typeface="Arial"/>
                <a:ea typeface="Arial"/>
                <a:cs typeface="Arial"/>
                <a:sym typeface="Arial"/>
              </a:rPr>
              <a:t>ViT Palm Model สร้าง Probability Map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51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D5166"/>
                </a:solidFill>
                <a:latin typeface="Arial"/>
                <a:ea typeface="Arial"/>
                <a:cs typeface="Arial"/>
                <a:sym typeface="Arial"/>
              </a:rPr>
              <a:t>แต่ละ pixel มีค่าความน่าจะเป็น 0.0–1.0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7" name="Google Shape;257;p9"/>
          <p:cNvCxnSpPr/>
          <p:nvPr/>
        </p:nvCxnSpPr>
        <p:spPr>
          <a:xfrm>
            <a:off x="5532120" y="2651760"/>
            <a:ext cx="137160" cy="0"/>
          </a:xfrm>
          <a:prstGeom prst="straightConnector1">
            <a:avLst/>
          </a:prstGeom>
          <a:noFill/>
          <a:ln cap="flat" cmpd="sng" w="19050">
            <a:solidFill>
              <a:srgbClr val="B0C4C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8" name="Google Shape;258;p9"/>
          <p:cNvSpPr/>
          <p:nvPr/>
        </p:nvSpPr>
        <p:spPr>
          <a:xfrm>
            <a:off x="5669280" y="1051560"/>
            <a:ext cx="1600200" cy="3246120"/>
          </a:xfrm>
          <a:prstGeom prst="roundRect">
            <a:avLst>
              <a:gd fmla="val 5714" name="adj"/>
            </a:avLst>
          </a:prstGeom>
          <a:solidFill>
            <a:srgbClr val="FEE2E2"/>
          </a:solidFill>
          <a:ln cap="flat" cmpd="sng" w="9525">
            <a:solidFill>
              <a:srgbClr val="E2EB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9"/>
          <p:cNvSpPr/>
          <p:nvPr/>
        </p:nvSpPr>
        <p:spPr>
          <a:xfrm>
            <a:off x="6272784" y="1143000"/>
            <a:ext cx="347472" cy="347472"/>
          </a:xfrm>
          <a:prstGeom prst="ellipse">
            <a:avLst/>
          </a:prstGeom>
          <a:solidFill>
            <a:srgbClr val="B91C1C"/>
          </a:solidFill>
          <a:ln cap="flat" cmpd="sng" w="1270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9"/>
          <p:cNvSpPr/>
          <p:nvPr/>
        </p:nvSpPr>
        <p:spPr>
          <a:xfrm>
            <a:off x="6272784" y="114300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5760720" y="1572768"/>
            <a:ext cx="1417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B91C1C"/>
                </a:solidFill>
                <a:latin typeface="Arial"/>
                <a:ea typeface="Arial"/>
                <a:cs typeface="Arial"/>
                <a:sym typeface="Arial"/>
              </a:rPr>
              <a:t>SAM Segmentation + Threshold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5760720" y="2057400"/>
            <a:ext cx="141732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51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D5166"/>
                </a:solidFill>
                <a:latin typeface="Arial"/>
                <a:ea typeface="Arial"/>
                <a:cs typeface="Arial"/>
                <a:sym typeface="Arial"/>
              </a:rPr>
              <a:t>SAM 1 ทำ Segmentation ทั่วภาพ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51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D5166"/>
                </a:solidFill>
                <a:latin typeface="Arial"/>
                <a:ea typeface="Arial"/>
                <a:cs typeface="Arial"/>
                <a:sym typeface="Arial"/>
              </a:rPr>
              <a:t>Segment ที่ซ้อนบน Prob Map &gt; 0.6 = Palm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3" name="Google Shape;263;p9"/>
          <p:cNvCxnSpPr/>
          <p:nvPr/>
        </p:nvCxnSpPr>
        <p:spPr>
          <a:xfrm>
            <a:off x="7269480" y="2651760"/>
            <a:ext cx="137160" cy="0"/>
          </a:xfrm>
          <a:prstGeom prst="straightConnector1">
            <a:avLst/>
          </a:prstGeom>
          <a:noFill/>
          <a:ln cap="flat" cmpd="sng" w="19050">
            <a:solidFill>
              <a:srgbClr val="B0C4C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4" name="Google Shape;264;p9"/>
          <p:cNvSpPr/>
          <p:nvPr/>
        </p:nvSpPr>
        <p:spPr>
          <a:xfrm>
            <a:off x="7406640" y="1051560"/>
            <a:ext cx="1600200" cy="3246120"/>
          </a:xfrm>
          <a:prstGeom prst="roundRect">
            <a:avLst>
              <a:gd fmla="val 5714" name="adj"/>
            </a:avLst>
          </a:prstGeom>
          <a:solidFill>
            <a:srgbClr val="DCFCE7"/>
          </a:solidFill>
          <a:ln cap="flat" cmpd="sng" w="9525">
            <a:solidFill>
              <a:srgbClr val="E2EB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9"/>
          <p:cNvSpPr/>
          <p:nvPr/>
        </p:nvSpPr>
        <p:spPr>
          <a:xfrm>
            <a:off x="8010144" y="1143000"/>
            <a:ext cx="347472" cy="347472"/>
          </a:xfrm>
          <a:prstGeom prst="ellipse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9"/>
          <p:cNvSpPr/>
          <p:nvPr/>
        </p:nvSpPr>
        <p:spPr>
          <a:xfrm>
            <a:off x="8010144" y="114300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7498080" y="1572768"/>
            <a:ext cx="1417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Download GeoJSON + Model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7498080" y="2057400"/>
            <a:ext cx="141732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51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D5166"/>
                </a:solidFill>
                <a:latin typeface="Arial"/>
                <a:ea typeface="Arial"/>
                <a:cs typeface="Arial"/>
                <a:sym typeface="Arial"/>
              </a:rPr>
              <a:t>GeoJSON Polygon Boundaries พื้นที่ปาล์ม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5166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0"/>
          <p:cNvSpPr/>
          <p:nvPr/>
        </p:nvSpPr>
        <p:spPr>
          <a:xfrm>
            <a:off x="-1371600" y="-1097280"/>
            <a:ext cx="3657600" cy="3657600"/>
          </a:xfrm>
          <a:prstGeom prst="ellipse">
            <a:avLst/>
          </a:prstGeom>
          <a:solidFill>
            <a:srgbClr val="E8F5F5"/>
          </a:solidFill>
          <a:ln cap="flat" cmpd="sng" w="12700">
            <a:solidFill>
              <a:srgbClr val="E8F5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0"/>
          <p:cNvSpPr/>
          <p:nvPr/>
        </p:nvSpPr>
        <p:spPr>
          <a:xfrm>
            <a:off x="457200" y="384048"/>
            <a:ext cx="118872" cy="118872"/>
          </a:xfrm>
          <a:prstGeom prst="ellipse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0"/>
          <p:cNvSpPr/>
          <p:nvPr/>
        </p:nvSpPr>
        <p:spPr>
          <a:xfrm>
            <a:off x="658368" y="71323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98AF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7E98AF"/>
                </a:solidFill>
                <a:latin typeface="Arial"/>
                <a:ea typeface="Arial"/>
                <a:cs typeface="Arial"/>
                <a:sym typeface="Arial"/>
              </a:rPr>
              <a:t>การวิเคราะห์ความเป็นไปได้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457200" y="1051560"/>
            <a:ext cx="4114800" cy="1645920"/>
          </a:xfrm>
          <a:prstGeom prst="roundRect">
            <a:avLst>
              <a:gd fmla="val 5556" name="adj"/>
            </a:avLst>
          </a:prstGeom>
          <a:solidFill>
            <a:srgbClr val="E0F4F4"/>
          </a:solidFill>
          <a:ln cap="flat" cmpd="sng" w="9525">
            <a:solidFill>
              <a:srgbClr val="E2EB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0"/>
          <p:cNvSpPr/>
          <p:nvPr/>
        </p:nvSpPr>
        <p:spPr>
          <a:xfrm>
            <a:off x="640080" y="1252728"/>
            <a:ext cx="118872" cy="118872"/>
          </a:xfrm>
          <a:prstGeom prst="ellipse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0"/>
          <p:cNvSpPr/>
          <p:nvPr/>
        </p:nvSpPr>
        <p:spPr>
          <a:xfrm>
            <a:off x="841248" y="1170432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D7377"/>
                </a:solidFill>
                <a:latin typeface="Arial"/>
                <a:ea typeface="Arial"/>
                <a:cs typeface="Arial"/>
                <a:sym typeface="Arial"/>
              </a:rPr>
              <a:t>Technical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658368" y="1581912"/>
            <a:ext cx="376732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166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D5166"/>
                </a:solidFill>
                <a:latin typeface="Arial"/>
                <a:ea typeface="Arial"/>
                <a:cs typeface="Arial"/>
                <a:sym typeface="Arial"/>
              </a:rPr>
              <a:t>PyTorch  ·  ViT  ·  SAM v1  ·  FastAPI  ·  GeoJSON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166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D5166"/>
                </a:solidFill>
                <a:latin typeface="Arial"/>
                <a:ea typeface="Arial"/>
                <a:cs typeface="Arial"/>
                <a:sym typeface="Arial"/>
              </a:rPr>
              <a:t>ทั้งหมดเป็น Open-source มีเอกสารครบถ้วน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166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D5166"/>
                </a:solidFill>
                <a:latin typeface="Arial"/>
                <a:ea typeface="Arial"/>
                <a:cs typeface="Arial"/>
                <a:sym typeface="Arial"/>
              </a:rPr>
              <a:t>ข้อมูล Sentinel ดาวน์โหลดฟรีผ่าน CDSE (Copernicus Data Space)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4754880" y="1051560"/>
            <a:ext cx="4114800" cy="1645920"/>
          </a:xfrm>
          <a:prstGeom prst="roundRect">
            <a:avLst>
              <a:gd fmla="val 5556" name="adj"/>
            </a:avLst>
          </a:prstGeom>
          <a:solidFill>
            <a:srgbClr val="EDE9FE"/>
          </a:solidFill>
          <a:ln cap="flat" cmpd="sng" w="9525">
            <a:solidFill>
              <a:srgbClr val="E2EB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0"/>
          <p:cNvSpPr/>
          <p:nvPr/>
        </p:nvSpPr>
        <p:spPr>
          <a:xfrm>
            <a:off x="4937760" y="1252728"/>
            <a:ext cx="118872" cy="118872"/>
          </a:xfrm>
          <a:prstGeom prst="ellipse">
            <a:avLst/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0"/>
          <p:cNvSpPr/>
          <p:nvPr/>
        </p:nvSpPr>
        <p:spPr>
          <a:xfrm>
            <a:off x="5138928" y="1170432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Schedule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4956048" y="1581912"/>
            <a:ext cx="376732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166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D5166"/>
                </a:solidFill>
                <a:latin typeface="Arial"/>
                <a:ea typeface="Arial"/>
                <a:cs typeface="Arial"/>
                <a:sym typeface="Arial"/>
              </a:rPr>
              <a:t>ระยะเวลา 7 เดือน (พ.ค. — พ.ย. 2569)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166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D5166"/>
                </a:solidFill>
                <a:latin typeface="Arial"/>
                <a:ea typeface="Arial"/>
                <a:cs typeface="Arial"/>
                <a:sym typeface="Arial"/>
              </a:rPr>
              <a:t>เพียงพอสำหรับ Library + API + Web PoC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166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D5166"/>
                </a:solidFill>
                <a:latin typeface="Arial"/>
                <a:ea typeface="Arial"/>
                <a:cs typeface="Arial"/>
                <a:sym typeface="Arial"/>
              </a:rPr>
              <a:t>แบ่ง Milestone รายเดือนอย่างชัดเจน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457200" y="2852928"/>
            <a:ext cx="4114800" cy="1600200"/>
          </a:xfrm>
          <a:prstGeom prst="roundRect">
            <a:avLst>
              <a:gd fmla="val 5714" name="adj"/>
            </a:avLst>
          </a:prstGeom>
          <a:solidFill>
            <a:srgbClr val="DCFCE7"/>
          </a:solidFill>
          <a:ln cap="flat" cmpd="sng" w="9525">
            <a:solidFill>
              <a:srgbClr val="E2EB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0"/>
          <p:cNvSpPr/>
          <p:nvPr/>
        </p:nvSpPr>
        <p:spPr>
          <a:xfrm>
            <a:off x="640080" y="3054096"/>
            <a:ext cx="118872" cy="118872"/>
          </a:xfrm>
          <a:prstGeom prst="ellipse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0"/>
          <p:cNvSpPr/>
          <p:nvPr/>
        </p:nvSpPr>
        <p:spPr>
          <a:xfrm>
            <a:off x="841248" y="2971800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Resource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658368" y="3383280"/>
            <a:ext cx="3767328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166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D5166"/>
                </a:solidFill>
                <a:latin typeface="Arial"/>
                <a:ea typeface="Arial"/>
                <a:cs typeface="Arial"/>
                <a:sym typeface="Arial"/>
              </a:rPr>
              <a:t>GPU: ได้รับการสนับสนุนจาก GISlab True Miracle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166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D5166"/>
                </a:solidFill>
                <a:latin typeface="Arial"/>
                <a:ea typeface="Arial"/>
                <a:cs typeface="Arial"/>
                <a:sym typeface="Arial"/>
              </a:rPr>
              <a:t>ข้อมูล Sentinel ฟรีผ่า CDSE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166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4754880" y="2852928"/>
            <a:ext cx="4114800" cy="1600200"/>
          </a:xfrm>
          <a:prstGeom prst="roundRect">
            <a:avLst>
              <a:gd fmla="val 5714" name="adj"/>
            </a:avLst>
          </a:prstGeom>
          <a:solidFill>
            <a:srgbClr val="FEE2E2"/>
          </a:solidFill>
          <a:ln cap="flat" cmpd="sng" w="9525">
            <a:solidFill>
              <a:srgbClr val="E2EB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0"/>
          <p:cNvSpPr/>
          <p:nvPr/>
        </p:nvSpPr>
        <p:spPr>
          <a:xfrm>
            <a:off x="4937760" y="3054096"/>
            <a:ext cx="118872" cy="118872"/>
          </a:xfrm>
          <a:prstGeom prst="ellipse">
            <a:avLst/>
          </a:prstGeom>
          <a:solidFill>
            <a:srgbClr val="B91C1C"/>
          </a:solidFill>
          <a:ln cap="flat" cmpd="sng" w="1270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0"/>
          <p:cNvSpPr/>
          <p:nvPr/>
        </p:nvSpPr>
        <p:spPr>
          <a:xfrm>
            <a:off x="5138928" y="2971800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B91C1C"/>
                </a:solidFill>
                <a:latin typeface="Arial"/>
                <a:ea typeface="Arial"/>
                <a:cs typeface="Arial"/>
                <a:sym typeface="Arial"/>
              </a:rPr>
              <a:t>Risk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0"/>
          <p:cNvSpPr/>
          <p:nvPr/>
        </p:nvSpPr>
        <p:spPr>
          <a:xfrm>
            <a:off x="4956048" y="3383280"/>
            <a:ext cx="3767328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166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D5166"/>
                </a:solidFill>
                <a:latin typeface="Arial"/>
                <a:ea typeface="Arial"/>
                <a:cs typeface="Arial"/>
                <a:sym typeface="Arial"/>
              </a:rPr>
              <a:t>Cloud Cover สูง → Validate ก่อน (&lt;10%)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166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D5166"/>
                </a:solidFill>
                <a:latin typeface="Arial"/>
                <a:ea typeface="Arial"/>
                <a:cs typeface="Arial"/>
                <a:sym typeface="Arial"/>
              </a:rPr>
              <a:t>GPU จำกัด → Pre-trained ViT + LoRA Fine-tuning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166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D5166"/>
                </a:solidFill>
                <a:latin typeface="Arial"/>
                <a:ea typeface="Arial"/>
                <a:cs typeface="Arial"/>
                <a:sym typeface="Arial"/>
              </a:rPr>
              <a:t>Function เปลี่ยน → API Versioning (v1/v2)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0"/>
          <p:cNvSpPr/>
          <p:nvPr/>
        </p:nvSpPr>
        <p:spPr>
          <a:xfrm>
            <a:off x="-2003997" y="-2157965"/>
            <a:ext cx="3200400" cy="3200400"/>
          </a:xfrm>
          <a:prstGeom prst="ellipse">
            <a:avLst/>
          </a:prstGeom>
          <a:solidFill>
            <a:srgbClr val="C8ECEC"/>
          </a:solidFill>
          <a:ln cap="flat" cmpd="sng" w="12700">
            <a:solidFill>
              <a:srgbClr val="C8EC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658368" y="274320"/>
            <a:ext cx="64008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923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F1923"/>
                </a:solidFill>
                <a:latin typeface="Arial"/>
                <a:ea typeface="Arial"/>
                <a:cs typeface="Arial"/>
                <a:sym typeface="Arial"/>
              </a:rPr>
              <a:t>Feasibility Analysis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1"/>
          <p:cNvSpPr/>
          <p:nvPr/>
        </p:nvSpPr>
        <p:spPr>
          <a:xfrm>
            <a:off x="457200" y="384048"/>
            <a:ext cx="118872" cy="118872"/>
          </a:xfrm>
          <a:prstGeom prst="ellipse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1"/>
          <p:cNvSpPr/>
          <p:nvPr/>
        </p:nvSpPr>
        <p:spPr>
          <a:xfrm>
            <a:off x="658368" y="274320"/>
            <a:ext cx="64008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923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F1923"/>
                </a:solidFill>
                <a:latin typeface="Arial"/>
                <a:ea typeface="Arial"/>
                <a:cs typeface="Arial"/>
                <a:sym typeface="Arial"/>
              </a:rPr>
              <a:t>แผนการดำเนินงาน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1"/>
          <p:cNvSpPr/>
          <p:nvPr/>
        </p:nvSpPr>
        <p:spPr>
          <a:xfrm>
            <a:off x="658368" y="71323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98AF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7E98AF"/>
                </a:solidFill>
                <a:latin typeface="Arial"/>
                <a:ea typeface="Arial"/>
                <a:cs typeface="Arial"/>
                <a:sym typeface="Arial"/>
              </a:rPr>
              <a:t>Gantt Chart  ·  พ.ค. — พ.ย. 2569  (7 เดือน)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457200" y="1051560"/>
            <a:ext cx="8412480" cy="365760"/>
          </a:xfrm>
          <a:prstGeom prst="roundRect">
            <a:avLst>
              <a:gd fmla="val 25000" name="adj"/>
            </a:avLst>
          </a:prstGeom>
          <a:solidFill>
            <a:srgbClr val="1E3A5F"/>
          </a:solidFill>
          <a:ln cap="flat" cmpd="sng" w="9525">
            <a:solidFill>
              <a:srgbClr val="E2EB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1"/>
          <p:cNvSpPr/>
          <p:nvPr/>
        </p:nvSpPr>
        <p:spPr>
          <a:xfrm>
            <a:off x="548640" y="1088136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กิจกรรม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1"/>
          <p:cNvSpPr/>
          <p:nvPr/>
        </p:nvSpPr>
        <p:spPr>
          <a:xfrm>
            <a:off x="3291840" y="1088136"/>
            <a:ext cx="79683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พ.ค.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1"/>
          <p:cNvSpPr/>
          <p:nvPr/>
        </p:nvSpPr>
        <p:spPr>
          <a:xfrm>
            <a:off x="4088674" y="1088136"/>
            <a:ext cx="79683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มิ.ย.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1"/>
          <p:cNvSpPr/>
          <p:nvPr/>
        </p:nvSpPr>
        <p:spPr>
          <a:xfrm>
            <a:off x="4885509" y="1088136"/>
            <a:ext cx="79683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ก.ค.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5682343" y="1088136"/>
            <a:ext cx="79683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ส.ค.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6479177" y="1088136"/>
            <a:ext cx="79683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ก.ย.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1"/>
          <p:cNvSpPr/>
          <p:nvPr/>
        </p:nvSpPr>
        <p:spPr>
          <a:xfrm>
            <a:off x="7276011" y="1088136"/>
            <a:ext cx="79683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ต.ค.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1"/>
          <p:cNvSpPr/>
          <p:nvPr/>
        </p:nvSpPr>
        <p:spPr>
          <a:xfrm>
            <a:off x="8072846" y="1088136"/>
            <a:ext cx="79683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พ.ย.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1"/>
          <p:cNvSpPr/>
          <p:nvPr/>
        </p:nvSpPr>
        <p:spPr>
          <a:xfrm>
            <a:off x="457200" y="1417320"/>
            <a:ext cx="8412480" cy="402336"/>
          </a:xfrm>
          <a:prstGeom prst="roundRect">
            <a:avLst>
              <a:gd fmla="val 22727" name="adj"/>
            </a:avLst>
          </a:prstGeom>
          <a:solidFill>
            <a:srgbClr val="FFFFFF"/>
          </a:solidFill>
          <a:ln cap="flat" cmpd="sng" w="9525">
            <a:solidFill>
              <a:srgbClr val="E2EB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1"/>
          <p:cNvSpPr/>
          <p:nvPr/>
        </p:nvSpPr>
        <p:spPr>
          <a:xfrm>
            <a:off x="548640" y="1453896"/>
            <a:ext cx="27432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1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D5166"/>
                </a:solidFill>
                <a:latin typeface="Arial"/>
                <a:ea typeface="Arial"/>
                <a:cs typeface="Arial"/>
                <a:sym typeface="Arial"/>
              </a:rPr>
              <a:t>ศึกษา Requirement / ระบบเดิม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1"/>
          <p:cNvSpPr/>
          <p:nvPr/>
        </p:nvSpPr>
        <p:spPr>
          <a:xfrm>
            <a:off x="3328416" y="1490472"/>
            <a:ext cx="723682" cy="228600"/>
          </a:xfrm>
          <a:prstGeom prst="roundRect">
            <a:avLst>
              <a:gd fmla="val 20000" name="adj"/>
            </a:avLst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1"/>
          <p:cNvSpPr/>
          <p:nvPr/>
        </p:nvSpPr>
        <p:spPr>
          <a:xfrm>
            <a:off x="457200" y="1847088"/>
            <a:ext cx="8412480" cy="402336"/>
          </a:xfrm>
          <a:prstGeom prst="roundRect">
            <a:avLst>
              <a:gd fmla="val 22727" name="adj"/>
            </a:avLst>
          </a:prstGeom>
          <a:solidFill>
            <a:srgbClr val="F2F6F8"/>
          </a:solidFill>
          <a:ln cap="flat" cmpd="sng" w="9525">
            <a:solidFill>
              <a:srgbClr val="E2EB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1"/>
          <p:cNvSpPr/>
          <p:nvPr/>
        </p:nvSpPr>
        <p:spPr>
          <a:xfrm>
            <a:off x="548640" y="1883664"/>
            <a:ext cx="27432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1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D5166"/>
                </a:solidFill>
                <a:latin typeface="Arial"/>
                <a:ea typeface="Arial"/>
                <a:cs typeface="Arial"/>
                <a:sym typeface="Arial"/>
              </a:rPr>
              <a:t>ออกแบบระบบและสถาปัตยกรรม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1"/>
          <p:cNvSpPr/>
          <p:nvPr/>
        </p:nvSpPr>
        <p:spPr>
          <a:xfrm>
            <a:off x="3328416" y="1920240"/>
            <a:ext cx="723682" cy="228600"/>
          </a:xfrm>
          <a:prstGeom prst="roundRect">
            <a:avLst>
              <a:gd fmla="val 20000" name="adj"/>
            </a:avLst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1"/>
          <p:cNvSpPr/>
          <p:nvPr/>
        </p:nvSpPr>
        <p:spPr>
          <a:xfrm>
            <a:off x="4125250" y="1920240"/>
            <a:ext cx="723682" cy="228600"/>
          </a:xfrm>
          <a:prstGeom prst="roundRect">
            <a:avLst>
              <a:gd fmla="val 20000" name="adj"/>
            </a:avLst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1"/>
          <p:cNvSpPr/>
          <p:nvPr/>
        </p:nvSpPr>
        <p:spPr>
          <a:xfrm>
            <a:off x="457200" y="2276856"/>
            <a:ext cx="8412480" cy="402336"/>
          </a:xfrm>
          <a:prstGeom prst="roundRect">
            <a:avLst>
              <a:gd fmla="val 22727" name="adj"/>
            </a:avLst>
          </a:prstGeom>
          <a:solidFill>
            <a:srgbClr val="FFFFFF"/>
          </a:solidFill>
          <a:ln cap="flat" cmpd="sng" w="9525">
            <a:solidFill>
              <a:srgbClr val="E2EB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1"/>
          <p:cNvSpPr/>
          <p:nvPr/>
        </p:nvSpPr>
        <p:spPr>
          <a:xfrm>
            <a:off x="548640" y="2313432"/>
            <a:ext cx="27432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1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D5166"/>
                </a:solidFill>
                <a:latin typeface="Arial"/>
                <a:ea typeface="Arial"/>
                <a:cs typeface="Arial"/>
                <a:sym typeface="Arial"/>
              </a:rPr>
              <a:t>พัฒนา Fusion Library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1"/>
          <p:cNvSpPr/>
          <p:nvPr/>
        </p:nvSpPr>
        <p:spPr>
          <a:xfrm>
            <a:off x="4125250" y="2350008"/>
            <a:ext cx="723682" cy="228600"/>
          </a:xfrm>
          <a:prstGeom prst="roundRect">
            <a:avLst>
              <a:gd fmla="val 20000" name="adj"/>
            </a:avLst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1"/>
          <p:cNvSpPr/>
          <p:nvPr/>
        </p:nvSpPr>
        <p:spPr>
          <a:xfrm>
            <a:off x="4922085" y="2350008"/>
            <a:ext cx="723682" cy="228600"/>
          </a:xfrm>
          <a:prstGeom prst="roundRect">
            <a:avLst>
              <a:gd fmla="val 20000" name="adj"/>
            </a:avLst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1"/>
          <p:cNvSpPr/>
          <p:nvPr/>
        </p:nvSpPr>
        <p:spPr>
          <a:xfrm>
            <a:off x="5718919" y="2350008"/>
            <a:ext cx="723682" cy="228600"/>
          </a:xfrm>
          <a:prstGeom prst="roundRect">
            <a:avLst>
              <a:gd fmla="val 20000" name="adj"/>
            </a:avLst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1"/>
          <p:cNvSpPr/>
          <p:nvPr/>
        </p:nvSpPr>
        <p:spPr>
          <a:xfrm>
            <a:off x="457200" y="2706624"/>
            <a:ext cx="8412480" cy="402336"/>
          </a:xfrm>
          <a:prstGeom prst="roundRect">
            <a:avLst>
              <a:gd fmla="val 22727" name="adj"/>
            </a:avLst>
          </a:prstGeom>
          <a:solidFill>
            <a:srgbClr val="F2F6F8"/>
          </a:solidFill>
          <a:ln cap="flat" cmpd="sng" w="9525">
            <a:solidFill>
              <a:srgbClr val="E2EB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1"/>
          <p:cNvSpPr/>
          <p:nvPr/>
        </p:nvSpPr>
        <p:spPr>
          <a:xfrm>
            <a:off x="548640" y="2743200"/>
            <a:ext cx="27432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1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D5166"/>
                </a:solidFill>
                <a:latin typeface="Arial"/>
                <a:ea typeface="Arial"/>
                <a:cs typeface="Arial"/>
                <a:sym typeface="Arial"/>
              </a:rPr>
              <a:t>พัฒนา ViT Palm Library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1"/>
          <p:cNvSpPr/>
          <p:nvPr/>
        </p:nvSpPr>
        <p:spPr>
          <a:xfrm>
            <a:off x="4922085" y="2779776"/>
            <a:ext cx="723682" cy="228600"/>
          </a:xfrm>
          <a:prstGeom prst="roundRect">
            <a:avLst>
              <a:gd fmla="val 20000" name="adj"/>
            </a:avLst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1"/>
          <p:cNvSpPr/>
          <p:nvPr/>
        </p:nvSpPr>
        <p:spPr>
          <a:xfrm>
            <a:off x="5718919" y="2779776"/>
            <a:ext cx="723682" cy="228600"/>
          </a:xfrm>
          <a:prstGeom prst="roundRect">
            <a:avLst>
              <a:gd fmla="val 20000" name="adj"/>
            </a:avLst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1"/>
          <p:cNvSpPr/>
          <p:nvPr/>
        </p:nvSpPr>
        <p:spPr>
          <a:xfrm>
            <a:off x="6515753" y="2779776"/>
            <a:ext cx="723682" cy="228600"/>
          </a:xfrm>
          <a:prstGeom prst="roundRect">
            <a:avLst>
              <a:gd fmla="val 20000" name="adj"/>
            </a:avLst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1"/>
          <p:cNvSpPr/>
          <p:nvPr/>
        </p:nvSpPr>
        <p:spPr>
          <a:xfrm>
            <a:off x="457200" y="3136392"/>
            <a:ext cx="8412480" cy="402336"/>
          </a:xfrm>
          <a:prstGeom prst="roundRect">
            <a:avLst>
              <a:gd fmla="val 22727" name="adj"/>
            </a:avLst>
          </a:prstGeom>
          <a:solidFill>
            <a:srgbClr val="FFFFFF"/>
          </a:solidFill>
          <a:ln cap="flat" cmpd="sng" w="9525">
            <a:solidFill>
              <a:srgbClr val="E2EB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1"/>
          <p:cNvSpPr/>
          <p:nvPr/>
        </p:nvSpPr>
        <p:spPr>
          <a:xfrm>
            <a:off x="548640" y="3172968"/>
            <a:ext cx="27432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1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D5166"/>
                </a:solidFill>
                <a:latin typeface="Arial"/>
                <a:ea typeface="Arial"/>
                <a:cs typeface="Arial"/>
                <a:sym typeface="Arial"/>
              </a:rPr>
              <a:t>พัฒนา FastAPI + Web PoC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1"/>
          <p:cNvSpPr/>
          <p:nvPr/>
        </p:nvSpPr>
        <p:spPr>
          <a:xfrm>
            <a:off x="5718919" y="3209544"/>
            <a:ext cx="723682" cy="228600"/>
          </a:xfrm>
          <a:prstGeom prst="roundRect">
            <a:avLst>
              <a:gd fmla="val 20000" name="adj"/>
            </a:avLst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1"/>
          <p:cNvSpPr/>
          <p:nvPr/>
        </p:nvSpPr>
        <p:spPr>
          <a:xfrm>
            <a:off x="6515753" y="3209544"/>
            <a:ext cx="723682" cy="228600"/>
          </a:xfrm>
          <a:prstGeom prst="roundRect">
            <a:avLst>
              <a:gd fmla="val 20000" name="adj"/>
            </a:avLst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1"/>
          <p:cNvSpPr/>
          <p:nvPr/>
        </p:nvSpPr>
        <p:spPr>
          <a:xfrm>
            <a:off x="7312587" y="3209544"/>
            <a:ext cx="723682" cy="228600"/>
          </a:xfrm>
          <a:prstGeom prst="roundRect">
            <a:avLst>
              <a:gd fmla="val 20000" name="adj"/>
            </a:avLst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1"/>
          <p:cNvSpPr/>
          <p:nvPr/>
        </p:nvSpPr>
        <p:spPr>
          <a:xfrm>
            <a:off x="457200" y="3566160"/>
            <a:ext cx="8412480" cy="402336"/>
          </a:xfrm>
          <a:prstGeom prst="roundRect">
            <a:avLst>
              <a:gd fmla="val 22727" name="adj"/>
            </a:avLst>
          </a:prstGeom>
          <a:solidFill>
            <a:srgbClr val="F2F6F8"/>
          </a:solidFill>
          <a:ln cap="flat" cmpd="sng" w="9525">
            <a:solidFill>
              <a:srgbClr val="E2EB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1"/>
          <p:cNvSpPr/>
          <p:nvPr/>
        </p:nvSpPr>
        <p:spPr>
          <a:xfrm>
            <a:off x="548640" y="3602736"/>
            <a:ext cx="27432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1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D5166"/>
                </a:solidFill>
                <a:latin typeface="Arial"/>
                <a:ea typeface="Arial"/>
                <a:cs typeface="Arial"/>
                <a:sym typeface="Arial"/>
              </a:rPr>
              <a:t>ทดสอบและปรับปรุงระบบ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1"/>
          <p:cNvSpPr/>
          <p:nvPr/>
        </p:nvSpPr>
        <p:spPr>
          <a:xfrm>
            <a:off x="4922085" y="3639312"/>
            <a:ext cx="723682" cy="228600"/>
          </a:xfrm>
          <a:prstGeom prst="roundRect">
            <a:avLst>
              <a:gd fmla="val 20000" name="adj"/>
            </a:avLst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1"/>
          <p:cNvSpPr/>
          <p:nvPr/>
        </p:nvSpPr>
        <p:spPr>
          <a:xfrm>
            <a:off x="5718919" y="3639312"/>
            <a:ext cx="723682" cy="228600"/>
          </a:xfrm>
          <a:prstGeom prst="roundRect">
            <a:avLst>
              <a:gd fmla="val 20000" name="adj"/>
            </a:avLst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1"/>
          <p:cNvSpPr/>
          <p:nvPr/>
        </p:nvSpPr>
        <p:spPr>
          <a:xfrm>
            <a:off x="6515753" y="3639312"/>
            <a:ext cx="723682" cy="228600"/>
          </a:xfrm>
          <a:prstGeom prst="roundRect">
            <a:avLst>
              <a:gd fmla="val 20000" name="adj"/>
            </a:avLst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1"/>
          <p:cNvSpPr/>
          <p:nvPr/>
        </p:nvSpPr>
        <p:spPr>
          <a:xfrm>
            <a:off x="7312587" y="3639312"/>
            <a:ext cx="723682" cy="228600"/>
          </a:xfrm>
          <a:prstGeom prst="roundRect">
            <a:avLst>
              <a:gd fmla="val 20000" name="adj"/>
            </a:avLst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1"/>
          <p:cNvSpPr/>
          <p:nvPr/>
        </p:nvSpPr>
        <p:spPr>
          <a:xfrm>
            <a:off x="457200" y="3995928"/>
            <a:ext cx="8412480" cy="402336"/>
          </a:xfrm>
          <a:prstGeom prst="roundRect">
            <a:avLst>
              <a:gd fmla="val 22727" name="adj"/>
            </a:avLst>
          </a:prstGeom>
          <a:solidFill>
            <a:srgbClr val="FFFFFF"/>
          </a:solidFill>
          <a:ln cap="flat" cmpd="sng" w="9525">
            <a:solidFill>
              <a:srgbClr val="E2EB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1"/>
          <p:cNvSpPr/>
          <p:nvPr/>
        </p:nvSpPr>
        <p:spPr>
          <a:xfrm>
            <a:off x="548640" y="4032504"/>
            <a:ext cx="27432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1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D5166"/>
                </a:solidFill>
                <a:latin typeface="Arial"/>
                <a:ea typeface="Arial"/>
                <a:cs typeface="Arial"/>
                <a:sym typeface="Arial"/>
              </a:rPr>
              <a:t>จัดทำรูปเล่มปริญญานิพนธ์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1"/>
          <p:cNvSpPr/>
          <p:nvPr/>
        </p:nvSpPr>
        <p:spPr>
          <a:xfrm>
            <a:off x="5718919" y="4069080"/>
            <a:ext cx="723682" cy="228600"/>
          </a:xfrm>
          <a:prstGeom prst="roundRect">
            <a:avLst>
              <a:gd fmla="val 20000" name="adj"/>
            </a:avLst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1"/>
          <p:cNvSpPr/>
          <p:nvPr/>
        </p:nvSpPr>
        <p:spPr>
          <a:xfrm>
            <a:off x="6515753" y="4069080"/>
            <a:ext cx="723682" cy="228600"/>
          </a:xfrm>
          <a:prstGeom prst="roundRect">
            <a:avLst>
              <a:gd fmla="val 20000" name="adj"/>
            </a:avLst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1"/>
          <p:cNvSpPr/>
          <p:nvPr/>
        </p:nvSpPr>
        <p:spPr>
          <a:xfrm>
            <a:off x="7312587" y="4069080"/>
            <a:ext cx="723682" cy="228600"/>
          </a:xfrm>
          <a:prstGeom prst="roundRect">
            <a:avLst>
              <a:gd fmla="val 20000" name="adj"/>
            </a:avLst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1"/>
          <p:cNvSpPr/>
          <p:nvPr/>
        </p:nvSpPr>
        <p:spPr>
          <a:xfrm>
            <a:off x="8109422" y="4069080"/>
            <a:ext cx="723682" cy="228600"/>
          </a:xfrm>
          <a:prstGeom prst="roundRect">
            <a:avLst>
              <a:gd fmla="val 20000" name="adj"/>
            </a:avLst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1"/>
          <p:cNvSpPr/>
          <p:nvPr/>
        </p:nvSpPr>
        <p:spPr>
          <a:xfrm>
            <a:off x="457200" y="4425696"/>
            <a:ext cx="8412480" cy="402336"/>
          </a:xfrm>
          <a:prstGeom prst="roundRect">
            <a:avLst>
              <a:gd fmla="val 22727" name="adj"/>
            </a:avLst>
          </a:prstGeom>
          <a:solidFill>
            <a:srgbClr val="F2F6F8"/>
          </a:solidFill>
          <a:ln cap="flat" cmpd="sng" w="9525">
            <a:solidFill>
              <a:srgbClr val="E2EB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1"/>
          <p:cNvSpPr/>
          <p:nvPr/>
        </p:nvSpPr>
        <p:spPr>
          <a:xfrm>
            <a:off x="548640" y="4462272"/>
            <a:ext cx="27432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1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D5166"/>
                </a:solidFill>
                <a:latin typeface="Arial"/>
                <a:ea typeface="Arial"/>
                <a:cs typeface="Arial"/>
                <a:sym typeface="Arial"/>
              </a:rPr>
              <a:t>เตรียมสอบสหกิจศึกษา 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1"/>
          <p:cNvSpPr/>
          <p:nvPr/>
        </p:nvSpPr>
        <p:spPr>
          <a:xfrm>
            <a:off x="7312587" y="4498848"/>
            <a:ext cx="723682" cy="228600"/>
          </a:xfrm>
          <a:prstGeom prst="roundRect">
            <a:avLst>
              <a:gd fmla="val 20000" name="adj"/>
            </a:avLst>
          </a:prstGeom>
          <a:solidFill>
            <a:srgbClr val="B91C1C"/>
          </a:solidFill>
          <a:ln cap="flat" cmpd="sng" w="1270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1"/>
          <p:cNvSpPr/>
          <p:nvPr/>
        </p:nvSpPr>
        <p:spPr>
          <a:xfrm>
            <a:off x="8109422" y="4498848"/>
            <a:ext cx="723682" cy="228600"/>
          </a:xfrm>
          <a:prstGeom prst="roundRect">
            <a:avLst>
              <a:gd fmla="val 20000" name="adj"/>
            </a:avLst>
          </a:prstGeom>
          <a:solidFill>
            <a:srgbClr val="B91C1C"/>
          </a:solidFill>
          <a:ln cap="flat" cmpd="sng" w="1270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1"/>
          <p:cNvSpPr/>
          <p:nvPr/>
        </p:nvSpPr>
        <p:spPr>
          <a:xfrm>
            <a:off x="4125323" y="3653037"/>
            <a:ext cx="723600" cy="228600"/>
          </a:xfrm>
          <a:prstGeom prst="roundRect">
            <a:avLst>
              <a:gd fmla="val 20000" name="adj"/>
            </a:avLst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2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E8F5F5"/>
          </a:solidFill>
          <a:ln cap="flat" cmpd="sng" w="12700">
            <a:solidFill>
              <a:srgbClr val="E8F5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2"/>
          <p:cNvSpPr/>
          <p:nvPr/>
        </p:nvSpPr>
        <p:spPr>
          <a:xfrm>
            <a:off x="457200" y="384048"/>
            <a:ext cx="118872" cy="118872"/>
          </a:xfrm>
          <a:prstGeom prst="ellipse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2"/>
          <p:cNvSpPr/>
          <p:nvPr/>
        </p:nvSpPr>
        <p:spPr>
          <a:xfrm>
            <a:off x="658368" y="274320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923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F1923"/>
                </a:solidFill>
                <a:latin typeface="Arial"/>
                <a:ea typeface="Arial"/>
                <a:cs typeface="Arial"/>
                <a:sym typeface="Arial"/>
              </a:rPr>
              <a:t>ความเสี่ยง · ข้อจำกัด · การจัดการ NDA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2"/>
          <p:cNvSpPr/>
          <p:nvPr/>
        </p:nvSpPr>
        <p:spPr>
          <a:xfrm>
            <a:off x="658368" y="71323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98AF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7E98AF"/>
                </a:solidFill>
                <a:latin typeface="Arial"/>
                <a:ea typeface="Arial"/>
                <a:cs typeface="Arial"/>
                <a:sym typeface="Arial"/>
              </a:rPr>
              <a:t>Risk Management &amp; NDA Compliance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2"/>
          <p:cNvSpPr/>
          <p:nvPr/>
        </p:nvSpPr>
        <p:spPr>
          <a:xfrm>
            <a:off x="457200" y="1051560"/>
            <a:ext cx="2788920" cy="2240280"/>
          </a:xfrm>
          <a:prstGeom prst="roundRect">
            <a:avLst>
              <a:gd fmla="val 4082" name="adj"/>
            </a:avLst>
          </a:prstGeom>
          <a:solidFill>
            <a:srgbClr val="FEE2E2"/>
          </a:solidFill>
          <a:ln cap="flat" cmpd="sng" w="9525">
            <a:solidFill>
              <a:srgbClr val="E2EB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2"/>
          <p:cNvSpPr/>
          <p:nvPr/>
        </p:nvSpPr>
        <p:spPr>
          <a:xfrm>
            <a:off x="640080" y="1170432"/>
            <a:ext cx="118872" cy="118872"/>
          </a:xfrm>
          <a:prstGeom prst="ellipse">
            <a:avLst/>
          </a:prstGeom>
          <a:solidFill>
            <a:srgbClr val="B91C1C"/>
          </a:solidFill>
          <a:ln cap="flat" cmpd="sng" w="1270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2"/>
          <p:cNvSpPr/>
          <p:nvPr/>
        </p:nvSpPr>
        <p:spPr>
          <a:xfrm>
            <a:off x="859536" y="1097280"/>
            <a:ext cx="23042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B91C1C"/>
                </a:solidFill>
                <a:latin typeface="Arial"/>
                <a:ea typeface="Arial"/>
                <a:cs typeface="Arial"/>
                <a:sym typeface="Arial"/>
              </a:rPr>
              <a:t>Cloud Cover &gt; 10%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2"/>
          <p:cNvSpPr/>
          <p:nvPr/>
        </p:nvSpPr>
        <p:spPr>
          <a:xfrm>
            <a:off x="640080" y="1508760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B91C1C"/>
                </a:solidFill>
                <a:latin typeface="Arial"/>
                <a:ea typeface="Arial"/>
                <a:cs typeface="Arial"/>
                <a:sym typeface="Arial"/>
              </a:rPr>
              <a:t>ผลกระทบ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2"/>
          <p:cNvSpPr/>
          <p:nvPr/>
        </p:nvSpPr>
        <p:spPr>
          <a:xfrm>
            <a:off x="640080" y="1737360"/>
            <a:ext cx="24871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1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D5166"/>
                </a:solidFill>
                <a:latin typeface="Arial"/>
                <a:ea typeface="Arial"/>
                <a:cs typeface="Arial"/>
                <a:sym typeface="Arial"/>
              </a:rPr>
              <a:t>Segmentation คลาดเคลื่อน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2"/>
          <p:cNvSpPr/>
          <p:nvPr/>
        </p:nvSpPr>
        <p:spPr>
          <a:xfrm>
            <a:off x="640080" y="2139696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B91C1C"/>
                </a:solidFill>
                <a:latin typeface="Arial"/>
                <a:ea typeface="Arial"/>
                <a:cs typeface="Arial"/>
                <a:sym typeface="Arial"/>
              </a:rPr>
              <a:t>แนวทางรับมือ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2"/>
          <p:cNvSpPr/>
          <p:nvPr/>
        </p:nvSpPr>
        <p:spPr>
          <a:xfrm>
            <a:off x="640080" y="2377440"/>
            <a:ext cx="248716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1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D5166"/>
                </a:solidFill>
                <a:latin typeface="Arial"/>
                <a:ea typeface="Arial"/>
                <a:cs typeface="Arial"/>
                <a:sym typeface="Arial"/>
              </a:rPr>
              <a:t>Validate ก่อน: </a:t>
            </a:r>
            <a:r>
              <a:rPr b="0" i="0" lang="en-US" sz="1000" u="none" cap="none" strike="noStrike">
                <a:solidFill>
                  <a:srgbClr val="3D5166"/>
                </a:solidFill>
                <a:latin typeface="Arial"/>
                <a:ea typeface="Arial"/>
                <a:cs typeface="Arial"/>
                <a:sym typeface="Arial"/>
              </a:rPr>
              <a:t>บังคับ CC &lt; 10%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1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D5166"/>
                </a:solidFill>
                <a:latin typeface="Arial"/>
                <a:ea typeface="Arial"/>
                <a:cs typeface="Arial"/>
                <a:sym typeface="Arial"/>
              </a:rPr>
              <a:t>แจ้งเตือน</a:t>
            </a:r>
            <a:r>
              <a:rPr b="0" i="0" lang="en-US" sz="1000" u="none" cap="none" strike="noStrike">
                <a:solidFill>
                  <a:srgbClr val="3D5166"/>
                </a:solidFill>
                <a:latin typeface="Arial"/>
                <a:ea typeface="Arial"/>
                <a:cs typeface="Arial"/>
                <a:sym typeface="Arial"/>
              </a:rPr>
              <a:t>และปฏิเสธ</a:t>
            </a:r>
            <a:r>
              <a:rPr b="0" i="0" lang="en-US" sz="1000" u="none" cap="none" strike="noStrike">
                <a:solidFill>
                  <a:srgbClr val="3D5166"/>
                </a:solidFill>
                <a:latin typeface="Arial"/>
                <a:ea typeface="Arial"/>
                <a:cs typeface="Arial"/>
                <a:sym typeface="Arial"/>
              </a:rPr>
              <a:t> Input ทันที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2"/>
          <p:cNvSpPr/>
          <p:nvPr/>
        </p:nvSpPr>
        <p:spPr>
          <a:xfrm>
            <a:off x="3401568" y="1051560"/>
            <a:ext cx="2788920" cy="2240280"/>
          </a:xfrm>
          <a:prstGeom prst="roundRect">
            <a:avLst>
              <a:gd fmla="val 4082" name="adj"/>
            </a:avLst>
          </a:prstGeom>
          <a:solidFill>
            <a:srgbClr val="FEF3C7"/>
          </a:solidFill>
          <a:ln cap="flat" cmpd="sng" w="9525">
            <a:solidFill>
              <a:srgbClr val="E2EB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2"/>
          <p:cNvSpPr/>
          <p:nvPr/>
        </p:nvSpPr>
        <p:spPr>
          <a:xfrm>
            <a:off x="3584448" y="1170432"/>
            <a:ext cx="118872" cy="118872"/>
          </a:xfrm>
          <a:prstGeom prst="ellipse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2"/>
          <p:cNvSpPr/>
          <p:nvPr/>
        </p:nvSpPr>
        <p:spPr>
          <a:xfrm>
            <a:off x="3803904" y="1097280"/>
            <a:ext cx="23042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GPU จำกัด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2"/>
          <p:cNvSpPr/>
          <p:nvPr/>
        </p:nvSpPr>
        <p:spPr>
          <a:xfrm>
            <a:off x="3584448" y="1508760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ผลกระทบ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2"/>
          <p:cNvSpPr/>
          <p:nvPr/>
        </p:nvSpPr>
        <p:spPr>
          <a:xfrm>
            <a:off x="3584448" y="1737360"/>
            <a:ext cx="24871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1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D5166"/>
                </a:solidFill>
                <a:latin typeface="Arial"/>
                <a:ea typeface="Arial"/>
                <a:cs typeface="Arial"/>
                <a:sym typeface="Arial"/>
              </a:rPr>
              <a:t>ViT Training ล่าช้า → Milestone ช้า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2"/>
          <p:cNvSpPr/>
          <p:nvPr/>
        </p:nvSpPr>
        <p:spPr>
          <a:xfrm>
            <a:off x="3584448" y="2139696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แนวทางรับมือ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2"/>
          <p:cNvSpPr/>
          <p:nvPr/>
        </p:nvSpPr>
        <p:spPr>
          <a:xfrm>
            <a:off x="3584448" y="2377440"/>
            <a:ext cx="248716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1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D5166"/>
                </a:solidFill>
                <a:latin typeface="Arial"/>
                <a:ea typeface="Arial"/>
                <a:cs typeface="Arial"/>
                <a:sym typeface="Arial"/>
              </a:rPr>
              <a:t>Pre-trained ViT + LoRA Fine-tuning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1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D5166"/>
                </a:solidFill>
                <a:latin typeface="Arial"/>
                <a:ea typeface="Arial"/>
                <a:cs typeface="Arial"/>
                <a:sym typeface="Arial"/>
              </a:rPr>
              <a:t>ลด Trainable Parameters ~95%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2"/>
          <p:cNvSpPr/>
          <p:nvPr/>
        </p:nvSpPr>
        <p:spPr>
          <a:xfrm>
            <a:off x="6345936" y="1051560"/>
            <a:ext cx="2788920" cy="2240280"/>
          </a:xfrm>
          <a:prstGeom prst="roundRect">
            <a:avLst>
              <a:gd fmla="val 4082" name="adj"/>
            </a:avLst>
          </a:prstGeom>
          <a:solidFill>
            <a:srgbClr val="EDE9FE"/>
          </a:solidFill>
          <a:ln cap="flat" cmpd="sng" w="9525">
            <a:solidFill>
              <a:srgbClr val="E2EB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2"/>
          <p:cNvSpPr/>
          <p:nvPr/>
        </p:nvSpPr>
        <p:spPr>
          <a:xfrm>
            <a:off x="6528816" y="1170432"/>
            <a:ext cx="118872" cy="118872"/>
          </a:xfrm>
          <a:prstGeom prst="ellipse">
            <a:avLst/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2"/>
          <p:cNvSpPr/>
          <p:nvPr/>
        </p:nvSpPr>
        <p:spPr>
          <a:xfrm>
            <a:off x="6748272" y="1097280"/>
            <a:ext cx="23042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พื้นที่แปลง &lt; 1 ไร่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2"/>
          <p:cNvSpPr/>
          <p:nvPr/>
        </p:nvSpPr>
        <p:spPr>
          <a:xfrm>
            <a:off x="6528816" y="1508760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ผลกระทบ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2"/>
          <p:cNvSpPr/>
          <p:nvPr/>
        </p:nvSpPr>
        <p:spPr>
          <a:xfrm>
            <a:off x="6528816" y="1737360"/>
            <a:ext cx="24871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1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D5166"/>
                </a:solidFill>
                <a:latin typeface="Arial"/>
                <a:ea typeface="Arial"/>
                <a:cs typeface="Arial"/>
                <a:sym typeface="Arial"/>
              </a:rPr>
              <a:t>ผลลัพธ์อาจ</a:t>
            </a:r>
            <a:r>
              <a:rPr b="0" i="0" lang="en-US" sz="1000" u="none" cap="none" strike="noStrike">
                <a:solidFill>
                  <a:srgbClr val="3D5166"/>
                </a:solidFill>
                <a:latin typeface="Arial"/>
                <a:ea typeface="Arial"/>
                <a:cs typeface="Arial"/>
                <a:sym typeface="Arial"/>
              </a:rPr>
              <a:t>ไม่ครบถ้วน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2"/>
          <p:cNvSpPr/>
          <p:nvPr/>
        </p:nvSpPr>
        <p:spPr>
          <a:xfrm>
            <a:off x="6528816" y="2139696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แนวทางรับมือ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2"/>
          <p:cNvSpPr/>
          <p:nvPr/>
        </p:nvSpPr>
        <p:spPr>
          <a:xfrm>
            <a:off x="6528816" y="2377440"/>
            <a:ext cx="2487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1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D5166"/>
                </a:solidFill>
                <a:latin typeface="Arial"/>
                <a:ea typeface="Arial"/>
                <a:cs typeface="Arial"/>
                <a:sym typeface="Arial"/>
              </a:rPr>
              <a:t>ระบุ Limitation ใน Documentation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166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2"/>
          <p:cNvSpPr/>
          <p:nvPr/>
        </p:nvSpPr>
        <p:spPr>
          <a:xfrm>
            <a:off x="457200" y="3419856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92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F1923"/>
                </a:solidFill>
                <a:latin typeface="Arial"/>
                <a:ea typeface="Arial"/>
                <a:cs typeface="Arial"/>
                <a:sym typeface="Arial"/>
              </a:rPr>
              <a:t>การจัดการข้อมูลภายใต้ NDA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2"/>
          <p:cNvSpPr/>
          <p:nvPr/>
        </p:nvSpPr>
        <p:spPr>
          <a:xfrm>
            <a:off x="457200" y="3822192"/>
            <a:ext cx="4114800" cy="1097280"/>
          </a:xfrm>
          <a:prstGeom prst="roundRect">
            <a:avLst>
              <a:gd fmla="val 8333" name="adj"/>
            </a:avLst>
          </a:prstGeom>
          <a:solidFill>
            <a:srgbClr val="DCFCE7"/>
          </a:solidFill>
          <a:ln cap="flat" cmpd="sng" w="9525">
            <a:solidFill>
              <a:srgbClr val="E2EB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2"/>
          <p:cNvSpPr/>
          <p:nvPr/>
        </p:nvSpPr>
        <p:spPr>
          <a:xfrm>
            <a:off x="640080" y="3895344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✓  สามารถเปิดเผย: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2"/>
          <p:cNvSpPr/>
          <p:nvPr/>
        </p:nvSpPr>
        <p:spPr>
          <a:xfrm>
            <a:off x="640080" y="4169664"/>
            <a:ext cx="3749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1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D5166"/>
                </a:solidFill>
                <a:latin typeface="Arial"/>
                <a:ea typeface="Arial"/>
                <a:cs typeface="Arial"/>
                <a:sym typeface="Arial"/>
              </a:rPr>
              <a:t>ภาพรวมระบบ  ·  สถาปัตยกรรม  ·  โมดูลและบทบาท  ·  แนวทางการเชื่อมต่อ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2"/>
          <p:cNvSpPr/>
          <p:nvPr/>
        </p:nvSpPr>
        <p:spPr>
          <a:xfrm>
            <a:off x="4754880" y="3822192"/>
            <a:ext cx="4114800" cy="1097280"/>
          </a:xfrm>
          <a:prstGeom prst="roundRect">
            <a:avLst>
              <a:gd fmla="val 8333" name="adj"/>
            </a:avLst>
          </a:prstGeom>
          <a:solidFill>
            <a:srgbClr val="FEE2E2"/>
          </a:solidFill>
          <a:ln cap="flat" cmpd="sng" w="9525">
            <a:solidFill>
              <a:srgbClr val="E2EB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2"/>
          <p:cNvSpPr/>
          <p:nvPr/>
        </p:nvSpPr>
        <p:spPr>
          <a:xfrm>
            <a:off x="4937760" y="3895344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B91C1C"/>
                </a:solidFill>
                <a:latin typeface="Arial"/>
                <a:ea typeface="Arial"/>
                <a:cs typeface="Arial"/>
                <a:sym typeface="Arial"/>
              </a:rPr>
              <a:t>✗  หลีกเลี่ยง: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2"/>
          <p:cNvSpPr/>
          <p:nvPr/>
        </p:nvSpPr>
        <p:spPr>
          <a:xfrm>
            <a:off x="4937760" y="4169664"/>
            <a:ext cx="3749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1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D5166"/>
                </a:solidFill>
                <a:latin typeface="Arial"/>
                <a:ea typeface="Arial"/>
                <a:cs typeface="Arial"/>
                <a:sym typeface="Arial"/>
              </a:rPr>
              <a:t>ชื่อลูกค้าจริง  ·  Secret Key / Credential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1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D5166"/>
                </a:solidFill>
                <a:latin typeface="Arial"/>
                <a:ea typeface="Arial"/>
                <a:cs typeface="Arial"/>
                <a:sym typeface="Arial"/>
              </a:rPr>
              <a:t>Source Code ลับ  ·  ข้อมูลเชิงพาณิชย์ที่ห้ามเผยแพร่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3"/>
          <p:cNvSpPr/>
          <p:nvPr/>
        </p:nvSpPr>
        <p:spPr>
          <a:xfrm>
            <a:off x="-1828800" y="1645920"/>
            <a:ext cx="5943600" cy="5943600"/>
          </a:xfrm>
          <a:prstGeom prst="ellipse">
            <a:avLst/>
          </a:prstGeom>
          <a:solidFill>
            <a:srgbClr val="E0F4F4"/>
          </a:solidFill>
          <a:ln cap="flat" cmpd="sng" w="12700">
            <a:solidFill>
              <a:srgbClr val="E0F4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3"/>
          <p:cNvSpPr/>
          <p:nvPr/>
        </p:nvSpPr>
        <p:spPr>
          <a:xfrm>
            <a:off x="-914400" y="2560320"/>
            <a:ext cx="3657600" cy="3657600"/>
          </a:xfrm>
          <a:prstGeom prst="ellipse">
            <a:avLst/>
          </a:prstGeom>
          <a:solidFill>
            <a:srgbClr val="C8ECEC"/>
          </a:solidFill>
          <a:ln cap="flat" cmpd="sng" w="12700">
            <a:solidFill>
              <a:srgbClr val="C8EC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3"/>
          <p:cNvSpPr/>
          <p:nvPr/>
        </p:nvSpPr>
        <p:spPr>
          <a:xfrm>
            <a:off x="6400800" y="365760"/>
            <a:ext cx="82296" cy="82296"/>
          </a:xfrm>
          <a:prstGeom prst="ellipse">
            <a:avLst/>
          </a:prstGeom>
          <a:solidFill>
            <a:srgbClr val="E2EBF0"/>
          </a:solidFill>
          <a:ln cap="flat" cmpd="sng" w="12700">
            <a:solidFill>
              <a:srgbClr val="E2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3"/>
          <p:cNvSpPr/>
          <p:nvPr/>
        </p:nvSpPr>
        <p:spPr>
          <a:xfrm>
            <a:off x="6784848" y="365760"/>
            <a:ext cx="82296" cy="82296"/>
          </a:xfrm>
          <a:prstGeom prst="ellipse">
            <a:avLst/>
          </a:prstGeom>
          <a:solidFill>
            <a:srgbClr val="E2EBF0"/>
          </a:solidFill>
          <a:ln cap="flat" cmpd="sng" w="12700">
            <a:solidFill>
              <a:srgbClr val="E2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3"/>
          <p:cNvSpPr/>
          <p:nvPr/>
        </p:nvSpPr>
        <p:spPr>
          <a:xfrm>
            <a:off x="7168896" y="365760"/>
            <a:ext cx="82296" cy="82296"/>
          </a:xfrm>
          <a:prstGeom prst="ellipse">
            <a:avLst/>
          </a:prstGeom>
          <a:solidFill>
            <a:srgbClr val="E2EBF0"/>
          </a:solidFill>
          <a:ln cap="flat" cmpd="sng" w="12700">
            <a:solidFill>
              <a:srgbClr val="E2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3"/>
          <p:cNvSpPr/>
          <p:nvPr/>
        </p:nvSpPr>
        <p:spPr>
          <a:xfrm>
            <a:off x="7552944" y="365760"/>
            <a:ext cx="82296" cy="82296"/>
          </a:xfrm>
          <a:prstGeom prst="ellipse">
            <a:avLst/>
          </a:prstGeom>
          <a:solidFill>
            <a:srgbClr val="E2EBF0"/>
          </a:solidFill>
          <a:ln cap="flat" cmpd="sng" w="12700">
            <a:solidFill>
              <a:srgbClr val="E2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3"/>
          <p:cNvSpPr/>
          <p:nvPr/>
        </p:nvSpPr>
        <p:spPr>
          <a:xfrm>
            <a:off x="6400800" y="749808"/>
            <a:ext cx="82296" cy="82296"/>
          </a:xfrm>
          <a:prstGeom prst="ellipse">
            <a:avLst/>
          </a:prstGeom>
          <a:solidFill>
            <a:srgbClr val="E2EBF0"/>
          </a:solidFill>
          <a:ln cap="flat" cmpd="sng" w="12700">
            <a:solidFill>
              <a:srgbClr val="E2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3"/>
          <p:cNvSpPr/>
          <p:nvPr/>
        </p:nvSpPr>
        <p:spPr>
          <a:xfrm>
            <a:off x="6784848" y="749808"/>
            <a:ext cx="82296" cy="82296"/>
          </a:xfrm>
          <a:prstGeom prst="ellipse">
            <a:avLst/>
          </a:prstGeom>
          <a:solidFill>
            <a:srgbClr val="E2EBF0"/>
          </a:solidFill>
          <a:ln cap="flat" cmpd="sng" w="12700">
            <a:solidFill>
              <a:srgbClr val="E2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3"/>
          <p:cNvSpPr/>
          <p:nvPr/>
        </p:nvSpPr>
        <p:spPr>
          <a:xfrm>
            <a:off x="7168896" y="749808"/>
            <a:ext cx="82296" cy="82296"/>
          </a:xfrm>
          <a:prstGeom prst="ellipse">
            <a:avLst/>
          </a:prstGeom>
          <a:solidFill>
            <a:srgbClr val="E2EBF0"/>
          </a:solidFill>
          <a:ln cap="flat" cmpd="sng" w="12700">
            <a:solidFill>
              <a:srgbClr val="E2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3"/>
          <p:cNvSpPr/>
          <p:nvPr/>
        </p:nvSpPr>
        <p:spPr>
          <a:xfrm>
            <a:off x="7552944" y="749808"/>
            <a:ext cx="82296" cy="82296"/>
          </a:xfrm>
          <a:prstGeom prst="ellipse">
            <a:avLst/>
          </a:prstGeom>
          <a:solidFill>
            <a:srgbClr val="E2EBF0"/>
          </a:solidFill>
          <a:ln cap="flat" cmpd="sng" w="12700">
            <a:solidFill>
              <a:srgbClr val="E2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3"/>
          <p:cNvSpPr/>
          <p:nvPr/>
        </p:nvSpPr>
        <p:spPr>
          <a:xfrm>
            <a:off x="6400800" y="1133856"/>
            <a:ext cx="82296" cy="82296"/>
          </a:xfrm>
          <a:prstGeom prst="ellipse">
            <a:avLst/>
          </a:prstGeom>
          <a:solidFill>
            <a:srgbClr val="E2EBF0"/>
          </a:solidFill>
          <a:ln cap="flat" cmpd="sng" w="12700">
            <a:solidFill>
              <a:srgbClr val="E2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3"/>
          <p:cNvSpPr/>
          <p:nvPr/>
        </p:nvSpPr>
        <p:spPr>
          <a:xfrm>
            <a:off x="6784848" y="1133856"/>
            <a:ext cx="82296" cy="82296"/>
          </a:xfrm>
          <a:prstGeom prst="ellipse">
            <a:avLst/>
          </a:prstGeom>
          <a:solidFill>
            <a:srgbClr val="E2EBF0"/>
          </a:solidFill>
          <a:ln cap="flat" cmpd="sng" w="12700">
            <a:solidFill>
              <a:srgbClr val="E2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3"/>
          <p:cNvSpPr/>
          <p:nvPr/>
        </p:nvSpPr>
        <p:spPr>
          <a:xfrm>
            <a:off x="7168896" y="1133856"/>
            <a:ext cx="82296" cy="82296"/>
          </a:xfrm>
          <a:prstGeom prst="ellipse">
            <a:avLst/>
          </a:prstGeom>
          <a:solidFill>
            <a:srgbClr val="E2EBF0"/>
          </a:solidFill>
          <a:ln cap="flat" cmpd="sng" w="12700">
            <a:solidFill>
              <a:srgbClr val="E2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3"/>
          <p:cNvSpPr/>
          <p:nvPr/>
        </p:nvSpPr>
        <p:spPr>
          <a:xfrm>
            <a:off x="7552944" y="1133856"/>
            <a:ext cx="82296" cy="82296"/>
          </a:xfrm>
          <a:prstGeom prst="ellipse">
            <a:avLst/>
          </a:prstGeom>
          <a:solidFill>
            <a:srgbClr val="E2EBF0"/>
          </a:solidFill>
          <a:ln cap="flat" cmpd="sng" w="12700">
            <a:solidFill>
              <a:srgbClr val="E2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3"/>
          <p:cNvSpPr/>
          <p:nvPr/>
        </p:nvSpPr>
        <p:spPr>
          <a:xfrm>
            <a:off x="6400800" y="1517904"/>
            <a:ext cx="82296" cy="82296"/>
          </a:xfrm>
          <a:prstGeom prst="ellipse">
            <a:avLst/>
          </a:prstGeom>
          <a:solidFill>
            <a:srgbClr val="E2EBF0"/>
          </a:solidFill>
          <a:ln cap="flat" cmpd="sng" w="12700">
            <a:solidFill>
              <a:srgbClr val="E2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3"/>
          <p:cNvSpPr/>
          <p:nvPr/>
        </p:nvSpPr>
        <p:spPr>
          <a:xfrm>
            <a:off x="6784848" y="1517904"/>
            <a:ext cx="82296" cy="82296"/>
          </a:xfrm>
          <a:prstGeom prst="ellipse">
            <a:avLst/>
          </a:prstGeom>
          <a:solidFill>
            <a:srgbClr val="E2EBF0"/>
          </a:solidFill>
          <a:ln cap="flat" cmpd="sng" w="12700">
            <a:solidFill>
              <a:srgbClr val="E2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3"/>
          <p:cNvSpPr/>
          <p:nvPr/>
        </p:nvSpPr>
        <p:spPr>
          <a:xfrm>
            <a:off x="7168896" y="1517904"/>
            <a:ext cx="82296" cy="82296"/>
          </a:xfrm>
          <a:prstGeom prst="ellipse">
            <a:avLst/>
          </a:prstGeom>
          <a:solidFill>
            <a:srgbClr val="E2EBF0"/>
          </a:solidFill>
          <a:ln cap="flat" cmpd="sng" w="12700">
            <a:solidFill>
              <a:srgbClr val="E2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3"/>
          <p:cNvSpPr/>
          <p:nvPr/>
        </p:nvSpPr>
        <p:spPr>
          <a:xfrm>
            <a:off x="7552944" y="1517904"/>
            <a:ext cx="82296" cy="82296"/>
          </a:xfrm>
          <a:prstGeom prst="ellipse">
            <a:avLst/>
          </a:prstGeom>
          <a:solidFill>
            <a:srgbClr val="E2EBF0"/>
          </a:solidFill>
          <a:ln cap="flat" cmpd="sng" w="12700">
            <a:solidFill>
              <a:srgbClr val="E2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3"/>
          <p:cNvSpPr/>
          <p:nvPr/>
        </p:nvSpPr>
        <p:spPr>
          <a:xfrm>
            <a:off x="6400800" y="1901952"/>
            <a:ext cx="82296" cy="82296"/>
          </a:xfrm>
          <a:prstGeom prst="ellipse">
            <a:avLst/>
          </a:prstGeom>
          <a:solidFill>
            <a:srgbClr val="E2EBF0"/>
          </a:solidFill>
          <a:ln cap="flat" cmpd="sng" w="12700">
            <a:solidFill>
              <a:srgbClr val="E2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3"/>
          <p:cNvSpPr/>
          <p:nvPr/>
        </p:nvSpPr>
        <p:spPr>
          <a:xfrm>
            <a:off x="6784848" y="1901952"/>
            <a:ext cx="82296" cy="82296"/>
          </a:xfrm>
          <a:prstGeom prst="ellipse">
            <a:avLst/>
          </a:prstGeom>
          <a:solidFill>
            <a:srgbClr val="E2EBF0"/>
          </a:solidFill>
          <a:ln cap="flat" cmpd="sng" w="12700">
            <a:solidFill>
              <a:srgbClr val="E2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3"/>
          <p:cNvSpPr/>
          <p:nvPr/>
        </p:nvSpPr>
        <p:spPr>
          <a:xfrm>
            <a:off x="7168896" y="1901952"/>
            <a:ext cx="82296" cy="82296"/>
          </a:xfrm>
          <a:prstGeom prst="ellipse">
            <a:avLst/>
          </a:prstGeom>
          <a:solidFill>
            <a:srgbClr val="E2EBF0"/>
          </a:solidFill>
          <a:ln cap="flat" cmpd="sng" w="12700">
            <a:solidFill>
              <a:srgbClr val="E2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3"/>
          <p:cNvSpPr/>
          <p:nvPr/>
        </p:nvSpPr>
        <p:spPr>
          <a:xfrm>
            <a:off x="7552944" y="1901952"/>
            <a:ext cx="82296" cy="82296"/>
          </a:xfrm>
          <a:prstGeom prst="ellipse">
            <a:avLst/>
          </a:prstGeom>
          <a:solidFill>
            <a:srgbClr val="E2EBF0"/>
          </a:solidFill>
          <a:ln cap="flat" cmpd="sng" w="12700">
            <a:solidFill>
              <a:srgbClr val="E2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3"/>
          <p:cNvSpPr/>
          <p:nvPr/>
        </p:nvSpPr>
        <p:spPr>
          <a:xfrm>
            <a:off x="6400800" y="2286000"/>
            <a:ext cx="82296" cy="82296"/>
          </a:xfrm>
          <a:prstGeom prst="ellipse">
            <a:avLst/>
          </a:prstGeom>
          <a:solidFill>
            <a:srgbClr val="E2EBF0"/>
          </a:solidFill>
          <a:ln cap="flat" cmpd="sng" w="12700">
            <a:solidFill>
              <a:srgbClr val="E2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3"/>
          <p:cNvSpPr/>
          <p:nvPr/>
        </p:nvSpPr>
        <p:spPr>
          <a:xfrm>
            <a:off x="6784848" y="2286000"/>
            <a:ext cx="82296" cy="82296"/>
          </a:xfrm>
          <a:prstGeom prst="ellipse">
            <a:avLst/>
          </a:prstGeom>
          <a:solidFill>
            <a:srgbClr val="E2EBF0"/>
          </a:solidFill>
          <a:ln cap="flat" cmpd="sng" w="12700">
            <a:solidFill>
              <a:srgbClr val="E2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3"/>
          <p:cNvSpPr/>
          <p:nvPr/>
        </p:nvSpPr>
        <p:spPr>
          <a:xfrm>
            <a:off x="7168896" y="2286000"/>
            <a:ext cx="82296" cy="82296"/>
          </a:xfrm>
          <a:prstGeom prst="ellipse">
            <a:avLst/>
          </a:prstGeom>
          <a:solidFill>
            <a:srgbClr val="E2EBF0"/>
          </a:solidFill>
          <a:ln cap="flat" cmpd="sng" w="12700">
            <a:solidFill>
              <a:srgbClr val="E2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3"/>
          <p:cNvSpPr/>
          <p:nvPr/>
        </p:nvSpPr>
        <p:spPr>
          <a:xfrm>
            <a:off x="7552944" y="2286000"/>
            <a:ext cx="82296" cy="82296"/>
          </a:xfrm>
          <a:prstGeom prst="ellipse">
            <a:avLst/>
          </a:prstGeom>
          <a:solidFill>
            <a:srgbClr val="E2EBF0"/>
          </a:solidFill>
          <a:ln cap="flat" cmpd="sng" w="12700">
            <a:solidFill>
              <a:srgbClr val="E2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3"/>
          <p:cNvSpPr/>
          <p:nvPr/>
        </p:nvSpPr>
        <p:spPr>
          <a:xfrm>
            <a:off x="548640" y="502920"/>
            <a:ext cx="5943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923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F1923"/>
                </a:solidFill>
                <a:latin typeface="Arial"/>
                <a:ea typeface="Arial"/>
                <a:cs typeface="Arial"/>
                <a:sym typeface="Arial"/>
              </a:rPr>
              <a:t>สรุปโครงงาน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3"/>
          <p:cNvSpPr/>
          <p:nvPr/>
        </p:nvSpPr>
        <p:spPr>
          <a:xfrm>
            <a:off x="548640" y="1078992"/>
            <a:ext cx="5943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0D7377"/>
                </a:solidFill>
                <a:latin typeface="Arial"/>
                <a:ea typeface="Arial"/>
                <a:cs typeface="Arial"/>
                <a:sym typeface="Arial"/>
              </a:rPr>
              <a:t>Oil Palm Remote Sensing DSS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3"/>
          <p:cNvSpPr/>
          <p:nvPr/>
        </p:nvSpPr>
        <p:spPr>
          <a:xfrm>
            <a:off x="548640" y="1572768"/>
            <a:ext cx="3200400" cy="2286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3"/>
          <p:cNvSpPr/>
          <p:nvPr/>
        </p:nvSpPr>
        <p:spPr>
          <a:xfrm>
            <a:off x="5029200" y="612648"/>
            <a:ext cx="118872" cy="118872"/>
          </a:xfrm>
          <a:prstGeom prst="ellipse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3"/>
          <p:cNvSpPr/>
          <p:nvPr/>
        </p:nvSpPr>
        <p:spPr>
          <a:xfrm>
            <a:off x="5230368" y="502920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D7377"/>
                </a:solidFill>
                <a:latin typeface="Arial"/>
                <a:ea typeface="Arial"/>
                <a:cs typeface="Arial"/>
                <a:sym typeface="Arial"/>
              </a:rPr>
              <a:t>Library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3"/>
          <p:cNvSpPr/>
          <p:nvPr/>
        </p:nvSpPr>
        <p:spPr>
          <a:xfrm>
            <a:off x="5230368" y="841248"/>
            <a:ext cx="34747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166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D5166"/>
                </a:solidFill>
                <a:latin typeface="Arial"/>
                <a:ea typeface="Arial"/>
                <a:cs typeface="Arial"/>
                <a:sym typeface="Arial"/>
              </a:rPr>
              <a:t>Fusion  ·  ViT Palm  ·  Self-Supervised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166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D5166"/>
                </a:solidFill>
                <a:latin typeface="Arial"/>
                <a:ea typeface="Arial"/>
                <a:cs typeface="Arial"/>
                <a:sym typeface="Arial"/>
              </a:rPr>
              <a:t>3 Open-source Python Packages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3"/>
          <p:cNvSpPr/>
          <p:nvPr/>
        </p:nvSpPr>
        <p:spPr>
          <a:xfrm>
            <a:off x="5029200" y="1527048"/>
            <a:ext cx="3474720" cy="10973"/>
          </a:xfrm>
          <a:prstGeom prst="rect">
            <a:avLst/>
          </a:prstGeom>
          <a:solidFill>
            <a:srgbClr val="E2EBF0"/>
          </a:solidFill>
          <a:ln cap="flat" cmpd="sng" w="12700">
            <a:solidFill>
              <a:srgbClr val="E2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3"/>
          <p:cNvSpPr/>
          <p:nvPr/>
        </p:nvSpPr>
        <p:spPr>
          <a:xfrm>
            <a:off x="5029200" y="1801368"/>
            <a:ext cx="118872" cy="118872"/>
          </a:xfrm>
          <a:prstGeom prst="ellipse">
            <a:avLst/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3"/>
          <p:cNvSpPr/>
          <p:nvPr/>
        </p:nvSpPr>
        <p:spPr>
          <a:xfrm>
            <a:off x="5230368" y="1691640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API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3"/>
          <p:cNvSpPr/>
          <p:nvPr/>
        </p:nvSpPr>
        <p:spPr>
          <a:xfrm>
            <a:off x="5230368" y="2029968"/>
            <a:ext cx="34747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166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D5166"/>
                </a:solidFill>
                <a:latin typeface="Arial"/>
                <a:ea typeface="Arial"/>
                <a:cs typeface="Arial"/>
                <a:sym typeface="Arial"/>
              </a:rPr>
              <a:t>FastAPI RESTful Service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166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D5166"/>
                </a:solidFill>
                <a:latin typeface="Arial"/>
                <a:ea typeface="Arial"/>
                <a:cs typeface="Arial"/>
                <a:sym typeface="Arial"/>
              </a:rPr>
              <a:t>S1/S2/Gsat → GeoJSON + Best-model.pkl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3"/>
          <p:cNvSpPr/>
          <p:nvPr/>
        </p:nvSpPr>
        <p:spPr>
          <a:xfrm>
            <a:off x="5029200" y="2715768"/>
            <a:ext cx="3474720" cy="10973"/>
          </a:xfrm>
          <a:prstGeom prst="rect">
            <a:avLst/>
          </a:prstGeom>
          <a:solidFill>
            <a:srgbClr val="E2EBF0"/>
          </a:solidFill>
          <a:ln cap="flat" cmpd="sng" w="12700">
            <a:solidFill>
              <a:srgbClr val="E2E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3"/>
          <p:cNvSpPr/>
          <p:nvPr/>
        </p:nvSpPr>
        <p:spPr>
          <a:xfrm>
            <a:off x="5029200" y="2990088"/>
            <a:ext cx="118872" cy="118872"/>
          </a:xfrm>
          <a:prstGeom prst="ellipse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3"/>
          <p:cNvSpPr/>
          <p:nvPr/>
        </p:nvSpPr>
        <p:spPr>
          <a:xfrm>
            <a:off x="5230368" y="2880360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Web PoC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3"/>
          <p:cNvSpPr/>
          <p:nvPr/>
        </p:nvSpPr>
        <p:spPr>
          <a:xfrm>
            <a:off x="5230368" y="3218688"/>
            <a:ext cx="34747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166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D5166"/>
                </a:solidFill>
                <a:latin typeface="Arial"/>
                <a:ea typeface="Arial"/>
                <a:cs typeface="Arial"/>
                <a:sym typeface="Arial"/>
              </a:rPr>
              <a:t>Pipeline อัตโนมัติ End-to-end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166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D5166"/>
                </a:solidFill>
                <a:latin typeface="Arial"/>
                <a:ea typeface="Arial"/>
                <a:cs typeface="Arial"/>
                <a:sym typeface="Arial"/>
              </a:rPr>
              <a:t>ตรวจจับพื้นที่ปาล์ม ≤ 10×10 km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3"/>
          <p:cNvSpPr/>
          <p:nvPr/>
        </p:nvSpPr>
        <p:spPr>
          <a:xfrm>
            <a:off x="457200" y="427939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98AF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7E98AF"/>
                </a:solidFill>
                <a:latin typeface="Arial"/>
                <a:ea typeface="Arial"/>
                <a:cs typeface="Arial"/>
                <a:sym typeface="Arial"/>
              </a:rPr>
              <a:t>Technology Stack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3"/>
          <p:cNvSpPr/>
          <p:nvPr/>
        </p:nvSpPr>
        <p:spPr>
          <a:xfrm>
            <a:off x="457200" y="4562856"/>
            <a:ext cx="1096366" cy="301752"/>
          </a:xfrm>
          <a:prstGeom prst="roundRect">
            <a:avLst>
              <a:gd fmla="val 24242" name="adj"/>
            </a:avLst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3"/>
          <p:cNvSpPr/>
          <p:nvPr/>
        </p:nvSpPr>
        <p:spPr>
          <a:xfrm>
            <a:off x="457200" y="4562856"/>
            <a:ext cx="1096366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PyTorch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3"/>
          <p:cNvSpPr/>
          <p:nvPr/>
        </p:nvSpPr>
        <p:spPr>
          <a:xfrm>
            <a:off x="1672438" y="4562856"/>
            <a:ext cx="741578" cy="301752"/>
          </a:xfrm>
          <a:prstGeom prst="roundRect">
            <a:avLst>
              <a:gd fmla="val 24242" name="adj"/>
            </a:avLst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3"/>
          <p:cNvSpPr/>
          <p:nvPr/>
        </p:nvSpPr>
        <p:spPr>
          <a:xfrm>
            <a:off x="1672438" y="4562856"/>
            <a:ext cx="741578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3"/>
          <p:cNvSpPr/>
          <p:nvPr/>
        </p:nvSpPr>
        <p:spPr>
          <a:xfrm>
            <a:off x="2532888" y="4562856"/>
            <a:ext cx="1007669" cy="301752"/>
          </a:xfrm>
          <a:prstGeom prst="roundRect">
            <a:avLst>
              <a:gd fmla="val 24242" name="adj"/>
            </a:avLst>
          </a:prstGeom>
          <a:solidFill>
            <a:srgbClr val="B91C1C"/>
          </a:solidFill>
          <a:ln cap="flat" cmpd="sng" w="1270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3"/>
          <p:cNvSpPr/>
          <p:nvPr/>
        </p:nvSpPr>
        <p:spPr>
          <a:xfrm>
            <a:off x="2532888" y="4562856"/>
            <a:ext cx="1007669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SAM v1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3"/>
          <p:cNvSpPr/>
          <p:nvPr/>
        </p:nvSpPr>
        <p:spPr>
          <a:xfrm>
            <a:off x="3659429" y="4562856"/>
            <a:ext cx="1096366" cy="301752"/>
          </a:xfrm>
          <a:prstGeom prst="roundRect">
            <a:avLst>
              <a:gd fmla="val 24242" name="adj"/>
            </a:avLst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3"/>
          <p:cNvSpPr/>
          <p:nvPr/>
        </p:nvSpPr>
        <p:spPr>
          <a:xfrm>
            <a:off x="3659429" y="4562856"/>
            <a:ext cx="1096366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FastAPI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3"/>
          <p:cNvSpPr/>
          <p:nvPr/>
        </p:nvSpPr>
        <p:spPr>
          <a:xfrm>
            <a:off x="4874666" y="4562856"/>
            <a:ext cx="830275" cy="301752"/>
          </a:xfrm>
          <a:prstGeom prst="roundRect">
            <a:avLst>
              <a:gd fmla="val 24242" name="adj"/>
            </a:avLst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3"/>
          <p:cNvSpPr/>
          <p:nvPr/>
        </p:nvSpPr>
        <p:spPr>
          <a:xfrm>
            <a:off x="4874666" y="4562856"/>
            <a:ext cx="830275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LoRA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3"/>
          <p:cNvSpPr/>
          <p:nvPr/>
        </p:nvSpPr>
        <p:spPr>
          <a:xfrm>
            <a:off x="5823814" y="4562856"/>
            <a:ext cx="1096366" cy="301752"/>
          </a:xfrm>
          <a:prstGeom prst="roundRect">
            <a:avLst>
              <a:gd fmla="val 24242" name="adj"/>
            </a:avLst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3"/>
          <p:cNvSpPr/>
          <p:nvPr/>
        </p:nvSpPr>
        <p:spPr>
          <a:xfrm>
            <a:off x="5823814" y="4562856"/>
            <a:ext cx="1096366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GeoJSON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3"/>
          <p:cNvSpPr/>
          <p:nvPr/>
        </p:nvSpPr>
        <p:spPr>
          <a:xfrm>
            <a:off x="7039051" y="4562856"/>
            <a:ext cx="1628546" cy="301752"/>
          </a:xfrm>
          <a:prstGeom prst="roundRect">
            <a:avLst>
              <a:gd fmla="val 24242" name="adj"/>
            </a:avLst>
          </a:prstGeom>
          <a:solidFill>
            <a:srgbClr val="3D5166"/>
          </a:solidFill>
          <a:ln cap="flat" cmpd="sng" w="12700">
            <a:solidFill>
              <a:srgbClr val="3D5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3"/>
          <p:cNvSpPr/>
          <p:nvPr/>
        </p:nvSpPr>
        <p:spPr>
          <a:xfrm>
            <a:off x="7039051" y="4562856"/>
            <a:ext cx="1628546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CDSE Sentinel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3"/>
          <p:cNvSpPr/>
          <p:nvPr/>
        </p:nvSpPr>
        <p:spPr>
          <a:xfrm>
            <a:off x="457200" y="4910328"/>
            <a:ext cx="8412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98AF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7E98AF"/>
                </a:solidFill>
                <a:latin typeface="Arial"/>
                <a:ea typeface="Arial"/>
                <a:cs typeface="Arial"/>
                <a:sym typeface="Arial"/>
              </a:rPr>
              <a:t>กิตติศักดิ์ ตันตราทร  ·  6604062610021  ·  GISlab True Miracle  ·  สหกิจศึกษา 1  ·  2569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